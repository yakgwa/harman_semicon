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0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73" r:id="rId5"/>
    <p:sldId id="280" r:id="rId6"/>
    <p:sldId id="274" r:id="rId7"/>
    <p:sldId id="259" r:id="rId8"/>
    <p:sldId id="275" r:id="rId9"/>
    <p:sldId id="278" r:id="rId10"/>
    <p:sldId id="277" r:id="rId11"/>
    <p:sldId id="302" r:id="rId12"/>
    <p:sldId id="260" r:id="rId13"/>
    <p:sldId id="301" r:id="rId14"/>
    <p:sldId id="261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300" r:id="rId24"/>
    <p:sldId id="272" r:id="rId25"/>
    <p:sldId id="268" r:id="rId26"/>
  </p:sldIdLst>
  <p:sldSz cx="12190413" cy="6859588"/>
  <p:notesSz cx="6858000" cy="9144000"/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orient="horz" pos="2157">
          <p15:clr>
            <a:srgbClr val="A4A3A4"/>
          </p15:clr>
        </p15:guide>
        <p15:guide id="3" pos="2880">
          <p15:clr>
            <a:srgbClr val="A4A3A4"/>
          </p15:clr>
        </p15:guide>
        <p15:guide id="4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96" autoAdjust="0"/>
    <p:restoredTop sz="94660"/>
  </p:normalViewPr>
  <p:slideViewPr>
    <p:cSldViewPr snapToGrid="0">
      <p:cViewPr>
        <p:scale>
          <a:sx n="86" d="100"/>
          <a:sy n="86" d="100"/>
        </p:scale>
        <p:origin x="120" y="342"/>
      </p:cViewPr>
      <p:guideLst>
        <p:guide orient="horz" pos="2156"/>
        <p:guide orient="horz" pos="2157"/>
        <p:guide pos="288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4CCFBE2-2B8D-499C-81C9-2CD5B3EB8E93}" type="datetime1">
              <a:rPr lang="ko-KR" altLang="en-US"/>
              <a:pPr lvl="0">
                <a:defRPr/>
              </a:pPr>
              <a:t>2026-02-12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5554DD7E-3179-445A-81DB-781C4554AFF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FB545AC5-813F-4ED1-B011-8EA17CB93331}" type="datetime1">
              <a:rPr lang="ko-KR" altLang="en-US"/>
              <a:pPr lvl="0">
                <a:defRPr/>
              </a:pPr>
              <a:t>2026-02-12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A5504B90-27FD-422C-8CC6-2AADAD122D0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240"/>
            <a:ext cx="12190408" cy="6857105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부제목 2"/>
          <p:cNvSpPr>
            <a:spLocks noGrp="1"/>
          </p:cNvSpPr>
          <p:nvPr>
            <p:ph type="subTitle" idx="1"/>
          </p:nvPr>
        </p:nvSpPr>
        <p:spPr>
          <a:xfrm>
            <a:off x="694606" y="1442553"/>
            <a:ext cx="9937104" cy="54708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9569" tIns="49785" rIns="99569" bIns="49785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r" defTabSz="99569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1200" kern="1200" baseline="0" dirty="0">
                <a:solidFill>
                  <a:srgbClr val="07B8E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  <a:lvl2pPr marL="497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49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27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ko-KR" altLang="en-US"/>
          </a:p>
        </p:txBody>
      </p:sp>
      <p:sp>
        <p:nvSpPr>
          <p:cNvPr id="15" name="제목 1"/>
          <p:cNvSpPr>
            <a:spLocks noGrp="1"/>
          </p:cNvSpPr>
          <p:nvPr>
            <p:ph type="ctrTitle" hasCustomPrompt="1"/>
          </p:nvPr>
        </p:nvSpPr>
        <p:spPr>
          <a:xfrm>
            <a:off x="689231" y="2063936"/>
            <a:ext cx="9983465" cy="115212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9569" tIns="49785" rIns="99569" bIns="49785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r" defTabSz="99569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5800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/>
              <a:t>제목을</a:t>
            </a:r>
            <a:r>
              <a:rPr lang="en-US" altLang="ko-KR"/>
              <a:t> </a:t>
            </a:r>
            <a:r>
              <a:rPr lang="ko-KR" altLang="en-US"/>
              <a:t>입력하시오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240"/>
            <a:ext cx="12190408" cy="6857105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240"/>
            <a:ext cx="12190408" cy="6857105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240"/>
            <a:ext cx="12190408" cy="6857105"/>
          </a:xfrm>
          <a:prstGeom prst="rect">
            <a:avLst/>
          </a:prstGeom>
        </p:spPr>
      </p:pic>
      <p:sp>
        <p:nvSpPr>
          <p:cNvPr id="15" name="내용 개체 틀 2"/>
          <p:cNvSpPr>
            <a:spLocks noGrp="1"/>
          </p:cNvSpPr>
          <p:nvPr>
            <p:ph idx="1" hasCustomPrompt="1"/>
          </p:nvPr>
        </p:nvSpPr>
        <p:spPr>
          <a:xfrm>
            <a:off x="609521" y="1485579"/>
            <a:ext cx="10971372" cy="4824535"/>
          </a:xfrm>
        </p:spPr>
        <p:txBody>
          <a:bodyPr>
            <a:normAutofit/>
          </a:bodyPr>
          <a:lstStyle>
            <a:lvl1pPr algn="l">
              <a:buNone/>
              <a:defRPr sz="2000" i="1" baseline="0">
                <a:solidFill>
                  <a:srgbClr val="07B8E1"/>
                </a:solidFill>
                <a:latin typeface="+mj-lt"/>
                <a:ea typeface="맑은 고딕" pitchFamily="50" charset="-127"/>
              </a:defRPr>
            </a:lvl1pPr>
            <a:lvl2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2pPr>
            <a:lvl3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3pPr>
            <a:lvl4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4pPr>
            <a:lvl5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5pPr>
          </a:lstStyle>
          <a:p>
            <a:pPr lvl="0"/>
            <a:r>
              <a:rPr lang="en-US" altLang="ko-KR"/>
              <a:t>Replaced with your own text</a:t>
            </a:r>
            <a:endParaRPr lang="ko-KR" altLang="en-US"/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09521" y="189434"/>
            <a:ext cx="10971373" cy="798753"/>
          </a:xfrm>
        </p:spPr>
        <p:txBody>
          <a:bodyPr vert="horz" lIns="99569" tIns="49785" rIns="99569" bIns="49785" rtlCol="0" anchor="ctr">
            <a:normAutofit/>
          </a:bodyPr>
          <a:lstStyle>
            <a:lvl1pPr algn="ctr" defTabSz="995690" rtl="0" eaLnBrk="1" latinLnBrk="1" hangingPunct="1">
              <a:spcBef>
                <a:spcPct val="0"/>
              </a:spcBef>
              <a:buNone/>
              <a:defRPr lang="ko-KR" altLang="en-US" sz="4000" b="1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2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521" y="6502342"/>
            <a:ext cx="2844430" cy="220692"/>
          </a:xfrm>
        </p:spPr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059" y="6502342"/>
            <a:ext cx="3860297" cy="22069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6463" y="6502342"/>
            <a:ext cx="2844430" cy="220692"/>
          </a:xfrm>
        </p:spPr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240"/>
            <a:ext cx="12190408" cy="6857105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521" y="6502342"/>
            <a:ext cx="2844430" cy="220692"/>
          </a:xfrm>
        </p:spPr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059" y="6502342"/>
            <a:ext cx="3860297" cy="22069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6463" y="6502342"/>
            <a:ext cx="2844430" cy="220692"/>
          </a:xfrm>
        </p:spPr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609521" y="189434"/>
            <a:ext cx="10971372" cy="798753"/>
          </a:xfrm>
        </p:spPr>
        <p:txBody>
          <a:bodyPr vert="horz" lIns="99569" tIns="49785" rIns="99569" bIns="49785" rtlCol="0" anchor="ctr">
            <a:normAutofit/>
          </a:bodyPr>
          <a:lstStyle>
            <a:lvl1pPr algn="l" defTabSz="995690" rtl="0" eaLnBrk="1" latinLnBrk="1" hangingPunct="1">
              <a:spcBef>
                <a:spcPct val="0"/>
              </a:spcBef>
              <a:buNone/>
              <a:defRPr lang="ko-KR" altLang="en-US" sz="4000" b="1" kern="12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idx="1" hasCustomPrompt="1"/>
          </p:nvPr>
        </p:nvSpPr>
        <p:spPr>
          <a:xfrm>
            <a:off x="609521" y="1485578"/>
            <a:ext cx="10971372" cy="4824535"/>
          </a:xfrm>
        </p:spPr>
        <p:txBody>
          <a:bodyPr>
            <a:normAutofit/>
          </a:bodyPr>
          <a:lstStyle>
            <a:lvl1pPr algn="l">
              <a:buNone/>
              <a:defRPr sz="200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맑은 고딕" pitchFamily="50" charset="-127"/>
              </a:defRPr>
            </a:lvl1pPr>
            <a:lvl2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2pPr>
            <a:lvl3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3pPr>
            <a:lvl4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4pPr>
            <a:lvl5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5pPr>
          </a:lstStyle>
          <a:p>
            <a:pPr lvl="0"/>
            <a:r>
              <a:rPr lang="en-US" altLang="ko-KR"/>
              <a:t>Replaced with your own text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240"/>
            <a:ext cx="12190408" cy="6857105"/>
          </a:xfrm>
          <a:prstGeom prst="rect">
            <a:avLst/>
          </a:prstGeom>
        </p:spPr>
      </p:pic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1"/>
          <p:cNvSpPr>
            <a:spLocks noGrp="1"/>
          </p:cNvSpPr>
          <p:nvPr>
            <p:ph type="ctrTitle"/>
          </p:nvPr>
        </p:nvSpPr>
        <p:spPr>
          <a:xfrm>
            <a:off x="1198662" y="1629594"/>
            <a:ext cx="8712968" cy="136815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9569" tIns="49785" rIns="99569" bIns="49785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9569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7200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01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21" y="19030"/>
            <a:ext cx="10971372" cy="797093"/>
          </a:xfrm>
          <a:prstGeom prst="rect">
            <a:avLst/>
          </a:prstGeom>
        </p:spPr>
        <p:txBody>
          <a:bodyPr vert="horz" lIns="99569" tIns="49785" rIns="99569" bIns="49785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21" y="1062267"/>
            <a:ext cx="10971372" cy="5287636"/>
          </a:xfrm>
          <a:prstGeom prst="rect">
            <a:avLst/>
          </a:prstGeom>
        </p:spPr>
        <p:txBody>
          <a:bodyPr vert="horz" lIns="99569" tIns="49785" rIns="99569" bIns="49785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21" y="6430887"/>
            <a:ext cx="2844430" cy="29214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059" y="6430887"/>
            <a:ext cx="3860297" cy="29214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6463" y="6430887"/>
            <a:ext cx="2844430" cy="29214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6" r:id="rId4"/>
    <p:sldLayoutId id="2147483650" r:id="rId5"/>
    <p:sldLayoutId id="2147483657" r:id="rId6"/>
    <p:sldLayoutId id="2147483662" r:id="rId7"/>
  </p:sldLayoutIdLst>
  <p:txStyles>
    <p:titleStyle>
      <a:lvl1pPr algn="l" defTabSz="995690" rtl="0" eaLnBrk="1" latinLnBrk="1" hangingPunct="1">
        <a:spcBef>
          <a:spcPct val="0"/>
        </a:spcBef>
        <a:buNone/>
        <a:defRPr lang="ko-KR" altLang="en-US" sz="3800" kern="1200">
          <a:solidFill>
            <a:sysClr val="windowText" lastClr="000000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373384" indent="-373384" algn="l" defTabSz="995690" rtl="0" eaLnBrk="1" latinLnBrk="1" hangingPunct="1">
        <a:spcBef>
          <a:spcPct val="20000"/>
        </a:spcBef>
        <a:buFont typeface="Arial" pitchFamily="34" charset="0"/>
        <a:buChar char="•"/>
        <a:defRPr lang="ko-KR" altLang="en-US" sz="27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08998" indent="-311153" algn="l" defTabSz="995690" rtl="0" eaLnBrk="1" latinLnBrk="1" hangingPunct="1">
        <a:spcBef>
          <a:spcPct val="20000"/>
        </a:spcBef>
        <a:buFont typeface="Arial" pitchFamily="34" charset="0"/>
        <a:buChar char="–"/>
        <a:defRPr lang="ko-KR" altLang="en-US" sz="20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24461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lang="ko-KR" altLang="en-US" sz="20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742458" indent="-248923" algn="l" defTabSz="995690" rtl="0" eaLnBrk="1" latinLnBrk="1" hangingPunct="1">
        <a:spcBef>
          <a:spcPct val="20000"/>
        </a:spcBef>
        <a:buFont typeface="Arial" pitchFamily="34" charset="0"/>
        <a:buChar char="–"/>
        <a:defRPr lang="ko-KR" altLang="en-US" sz="20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240303" indent="-248923" algn="l" defTabSz="995690" rtl="0" eaLnBrk="1" latinLnBrk="1" hangingPunct="1">
        <a:spcBef>
          <a:spcPct val="20000"/>
        </a:spcBef>
        <a:buFont typeface="Arial" pitchFamily="34" charset="0"/>
        <a:buChar char="»"/>
        <a:defRPr lang="ko-KR" altLang="en-US"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 txBox="1"/>
          <p:nvPr/>
        </p:nvSpPr>
        <p:spPr>
          <a:xfrm>
            <a:off x="623832" y="1178393"/>
            <a:ext cx="9937104" cy="547081"/>
          </a:xfrm>
          <a:prstGeom prst="rect">
            <a:avLst/>
          </a:prstGeom>
        </p:spPr>
        <p:txBody>
          <a:bodyPr/>
          <a:lstStyle>
            <a:lvl1pPr marL="373384" indent="-373384" algn="l" defTabSz="995690" rtl="0" eaLnBrk="1" latinLnBrk="1" hangingPunct="1">
              <a:spcBef>
                <a:spcPct val="20000"/>
              </a:spcBef>
              <a:buFont typeface="Arial"/>
              <a:buChar char="•"/>
              <a:defRPr lang="ko-KR" altLang="en-US" sz="2700" kern="1200" smtClean="0">
                <a:solidFill>
                  <a:schemeClr val="tx1"/>
                </a:solidFill>
                <a:latin typeface="맑은 고딕"/>
                <a:ea typeface="맑은 고딕"/>
                <a:cs typeface="+mn-cs"/>
              </a:defRPr>
            </a:lvl1pPr>
            <a:lvl2pPr marL="808998" indent="-311153" algn="l" defTabSz="995690" rtl="0" eaLnBrk="1" latinLnBrk="1" hangingPunct="1">
              <a:spcBef>
                <a:spcPct val="20000"/>
              </a:spcBef>
              <a:buFont typeface="Arial"/>
              <a:buChar char="–"/>
              <a:defRPr lang="ko-KR" altLang="en-US" sz="2000" kern="1200" smtClean="0">
                <a:solidFill>
                  <a:schemeClr val="tx1"/>
                </a:solidFill>
                <a:latin typeface="맑은 고딕"/>
                <a:ea typeface="맑은 고딕"/>
                <a:cs typeface="+mn-cs"/>
              </a:defRPr>
            </a:lvl2pPr>
            <a:lvl3pPr marL="1244613" indent="-248923" algn="l" defTabSz="995690" rtl="0" eaLnBrk="1" latinLnBrk="1" hangingPunct="1">
              <a:spcBef>
                <a:spcPct val="20000"/>
              </a:spcBef>
              <a:buFont typeface="Arial"/>
              <a:buChar char="•"/>
              <a:defRPr lang="ko-KR" altLang="en-US" sz="2000" kern="1200" smtClean="0">
                <a:solidFill>
                  <a:schemeClr val="tx1"/>
                </a:solidFill>
                <a:latin typeface="맑은 고딕"/>
                <a:ea typeface="맑은 고딕"/>
                <a:cs typeface="+mn-cs"/>
              </a:defRPr>
            </a:lvl3pPr>
            <a:lvl4pPr marL="1742458" indent="-248923" algn="l" defTabSz="995690" rtl="0" eaLnBrk="1" latinLnBrk="1" hangingPunct="1">
              <a:spcBef>
                <a:spcPct val="20000"/>
              </a:spcBef>
              <a:buFont typeface="Arial"/>
              <a:buChar char="–"/>
              <a:defRPr lang="ko-KR" altLang="en-US" sz="2000" kern="1200" smtClean="0">
                <a:solidFill>
                  <a:schemeClr val="tx1"/>
                </a:solidFill>
                <a:latin typeface="맑은 고딕"/>
                <a:ea typeface="맑은 고딕"/>
                <a:cs typeface="+mn-cs"/>
              </a:defRPr>
            </a:lvl4pPr>
            <a:lvl5pPr marL="2240303" indent="-248923" algn="l" defTabSz="995690" rtl="0" eaLnBrk="1" latinLnBrk="1" hangingPunct="1">
              <a:spcBef>
                <a:spcPct val="20000"/>
              </a:spcBef>
              <a:buFont typeface="Arial"/>
              <a:buChar char="»"/>
              <a:defRPr lang="ko-KR" altLang="en-US" sz="2000" kern="1200">
                <a:solidFill>
                  <a:schemeClr val="tx1"/>
                </a:solidFill>
                <a:latin typeface="맑은 고딕"/>
                <a:ea typeface="맑은 고딕"/>
                <a:cs typeface="+mn-cs"/>
              </a:defRPr>
            </a:lvl5pPr>
            <a:lvl6pPr marL="2738148" indent="-248923" algn="l" defTabSz="995690" rtl="0" eaLnBrk="1" latinLnBrk="1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35993" indent="-248923" algn="l" defTabSz="995690" rtl="0" eaLnBrk="1" latinLnBrk="1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33838" indent="-248923" algn="l" defTabSz="995690" rtl="0" eaLnBrk="1" latinLnBrk="1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31683" indent="-248923" algn="l" defTabSz="995690" rtl="0" eaLnBrk="1" latinLnBrk="1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2400" b="1">
                <a:solidFill>
                  <a:schemeClr val="bg1"/>
                </a:solidFill>
              </a:rPr>
              <a:t>Harman Semicon Academy</a:t>
            </a:r>
          </a:p>
        </p:txBody>
      </p:sp>
      <p:sp>
        <p:nvSpPr>
          <p:cNvPr id="3" name="제목 2"/>
          <p:cNvSpPr txBox="1"/>
          <p:nvPr/>
        </p:nvSpPr>
        <p:spPr>
          <a:xfrm>
            <a:off x="2241547" y="2351901"/>
            <a:ext cx="8233865" cy="2950538"/>
          </a:xfrm>
          <a:prstGeom prst="rect">
            <a:avLst/>
          </a:prstGeom>
          <a:noFill/>
        </p:spPr>
        <p:txBody>
          <a:bodyPr/>
          <a:lstStyle>
            <a:lvl1pPr algn="l" defTabSz="995690" rtl="0" eaLnBrk="1" latinLnBrk="1" hangingPunct="1">
              <a:spcBef>
                <a:spcPct val="0"/>
              </a:spcBef>
              <a:buNone/>
              <a:defRPr lang="ko-KR" altLang="en-US" sz="3800" kern="1200">
                <a:solidFill>
                  <a:sysClr val="windowText" lastClr="000000"/>
                </a:solidFill>
                <a:latin typeface="맑은 고딕"/>
                <a:ea typeface="맑은 고딕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sz="4800" b="1">
                <a:solidFill>
                  <a:schemeClr val="bg1"/>
                </a:solidFill>
              </a:rPr>
              <a:t>RISCV APB PERI</a:t>
            </a:r>
          </a:p>
          <a:p>
            <a:pPr algn="ctr">
              <a:defRPr/>
            </a:pPr>
            <a:endParaRPr lang="en-US" altLang="ko-KR" sz="4800" b="1">
              <a:solidFill>
                <a:schemeClr val="bg1"/>
              </a:solidFill>
            </a:endParaRPr>
          </a:p>
          <a:p>
            <a:pPr algn="ctr">
              <a:defRPr/>
            </a:pPr>
            <a:endParaRPr lang="en-US" altLang="ko-KR" sz="4800" b="1">
              <a:solidFill>
                <a:schemeClr val="bg1"/>
              </a:solidFill>
            </a:endParaRPr>
          </a:p>
          <a:p>
            <a:pPr algn="ctr">
              <a:defRPr/>
            </a:pPr>
            <a:endParaRPr lang="en-US" altLang="ko-KR" sz="4800" b="1">
              <a:solidFill>
                <a:schemeClr val="bg1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940920" y="5536693"/>
            <a:ext cx="1677672" cy="50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666" b="1">
                <a:solidFill>
                  <a:schemeClr val="bg1"/>
                </a:solidFill>
                <a:latin typeface="나눔고딕"/>
                <a:ea typeface="나눔고딕"/>
                <a:cs typeface="Arial"/>
              </a:rPr>
              <a:t>조현우</a:t>
            </a:r>
            <a:r>
              <a:rPr lang="en-US" altLang="ko-KR" sz="2666" b="1">
                <a:solidFill>
                  <a:schemeClr val="bg1"/>
                </a:solidFill>
                <a:latin typeface="나눔고딕"/>
                <a:ea typeface="나눔고딕"/>
                <a:cs typeface="Arial"/>
              </a:rPr>
              <a:t>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030" y="245595"/>
            <a:ext cx="2293910" cy="1342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endParaRPr lang="en-US" altLang="ko-KR" sz="2800" dirty="0"/>
          </a:p>
          <a:p>
            <a:pPr marL="457200" indent="-457200">
              <a:buAutoNum type="arabicPeriod"/>
              <a:defRPr/>
            </a:pPr>
            <a:r>
              <a:rPr lang="en-US" altLang="ko-KR" sz="2800" dirty="0"/>
              <a:t>Project Introduce</a:t>
            </a:r>
          </a:p>
          <a:p>
            <a:pPr marL="457200" indent="-457200">
              <a:buAutoNum type="arabicPeriod"/>
              <a:defRPr/>
            </a:pPr>
            <a:endParaRPr lang="en-US" altLang="ko-KR" sz="2800" dirty="0"/>
          </a:p>
          <a:p>
            <a:pPr marL="457200" indent="-457200">
              <a:buAutoNum type="arabicPeriod"/>
              <a:defRPr/>
            </a:pPr>
            <a:r>
              <a:rPr lang="en-US" altLang="ko-KR" sz="2800" dirty="0"/>
              <a:t>Block Diagram</a:t>
            </a:r>
          </a:p>
          <a:p>
            <a:pPr marL="457200" indent="-457200">
              <a:buAutoNum type="arabicPeriod"/>
              <a:defRPr/>
            </a:pPr>
            <a:endParaRPr lang="en-US" altLang="ko-KR" sz="2800" dirty="0"/>
          </a:p>
          <a:p>
            <a:pPr marL="457200" indent="-457200">
              <a:buAutoNum type="arabicPeriod"/>
              <a:defRPr/>
            </a:pPr>
            <a:r>
              <a:rPr lang="en-US" altLang="ko-KR" sz="2800" dirty="0"/>
              <a:t>Simulation / Verification</a:t>
            </a:r>
          </a:p>
          <a:p>
            <a:pPr marL="457200" indent="-457200">
              <a:buAutoNum type="arabicPeriod"/>
              <a:defRPr/>
            </a:pPr>
            <a:endParaRPr lang="en-US" altLang="ko-KR" sz="2800" dirty="0"/>
          </a:p>
          <a:p>
            <a:pPr marL="457200" indent="-457200">
              <a:buAutoNum type="arabicPeriod"/>
              <a:defRPr/>
            </a:pPr>
            <a:r>
              <a:rPr lang="en-US" altLang="ko-KR" sz="2800" dirty="0"/>
              <a:t>C Machine Code Test</a:t>
            </a:r>
          </a:p>
          <a:p>
            <a:pPr marL="457200" indent="-457200">
              <a:buAutoNum type="arabicPeriod"/>
              <a:defRPr/>
            </a:pPr>
            <a:endParaRPr lang="en-US" altLang="ko-KR" sz="2800" dirty="0"/>
          </a:p>
          <a:p>
            <a:pPr marL="457200" indent="-457200">
              <a:buAutoNum type="arabicPeriod"/>
              <a:defRPr/>
            </a:pPr>
            <a:r>
              <a:rPr lang="en-US" altLang="ko-KR" sz="2800" dirty="0"/>
              <a:t>Conclusion</a:t>
            </a:r>
          </a:p>
          <a:p>
            <a:pPr marL="457200" indent="-457200">
              <a:buAutoNum type="arabicPeriod"/>
              <a:defRPr/>
            </a:pPr>
            <a:endParaRPr lang="en-US" altLang="ko-KR" sz="2800" dirty="0"/>
          </a:p>
          <a:p>
            <a:pPr marL="457200" indent="-457200">
              <a:buAutoNum type="arabicPeriod"/>
              <a:defRPr/>
            </a:pPr>
            <a:endParaRPr lang="en-US" altLang="ko-KR" sz="28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Contents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 Project Introduce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6848" y="2181220"/>
            <a:ext cx="5642794" cy="3931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</a:t>
            </a:r>
            <a:r>
              <a:rPr lang="en-US" altLang="ko-KR" b="1" dirty="0">
                <a:latin typeface="+mj-ea"/>
                <a:ea typeface="+mj-ea"/>
              </a:rPr>
              <a:t>RISCV </a:t>
            </a:r>
            <a:r>
              <a:rPr lang="ko-KR" altLang="en-US" b="1" dirty="0">
                <a:latin typeface="+mj-ea"/>
                <a:ea typeface="+mj-ea"/>
              </a:rPr>
              <a:t>구조 설계 및 이해</a:t>
            </a:r>
            <a:endParaRPr lang="ko-KR" altLang="en-US" sz="1800" b="1" dirty="0"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  <a:ea typeface="+mj-ea"/>
              </a:rPr>
              <a:t>    </a:t>
            </a:r>
            <a:r>
              <a:rPr lang="en-US" altLang="ko-KR" sz="1800" b="1" dirty="0">
                <a:latin typeface="+mj-ea"/>
                <a:ea typeface="+mj-ea"/>
              </a:rPr>
              <a:t>-</a:t>
            </a:r>
            <a:r>
              <a:rPr lang="ko-KR" altLang="en-US" sz="1800" b="1" dirty="0">
                <a:latin typeface="+mj-ea"/>
                <a:ea typeface="+mj-ea"/>
              </a:rPr>
              <a:t> </a:t>
            </a:r>
            <a:r>
              <a:rPr lang="en-US" altLang="ko-KR" sz="1800" b="1" dirty="0" err="1">
                <a:latin typeface="+mj-ea"/>
                <a:ea typeface="+mj-ea"/>
              </a:rPr>
              <a:t>MultiCycle</a:t>
            </a:r>
            <a:r>
              <a:rPr lang="ko-KR" altLang="en-US" sz="1800" b="1" dirty="0">
                <a:latin typeface="+mj-ea"/>
                <a:ea typeface="+mj-ea"/>
              </a:rPr>
              <a:t> 형태의 </a:t>
            </a:r>
            <a:r>
              <a:rPr lang="en-US" altLang="ko-KR" sz="1800" b="1" dirty="0">
                <a:latin typeface="+mj-ea"/>
                <a:ea typeface="+mj-ea"/>
              </a:rPr>
              <a:t>Processor</a:t>
            </a:r>
            <a:r>
              <a:rPr lang="ko-KR" altLang="en-US" sz="1800" b="1" dirty="0">
                <a:latin typeface="+mj-ea"/>
                <a:ea typeface="+mj-ea"/>
              </a:rPr>
              <a:t>를 설계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  <a:ea typeface="+mj-ea"/>
              </a:rPr>
              <a:t>    </a:t>
            </a:r>
            <a:r>
              <a:rPr lang="en-US" altLang="ko-KR" sz="1800" b="1" dirty="0">
                <a:latin typeface="+mj-ea"/>
                <a:ea typeface="+mj-ea"/>
              </a:rPr>
              <a:t>-</a:t>
            </a:r>
            <a:r>
              <a:rPr lang="ko-KR" altLang="en-US" sz="1800" b="1" dirty="0">
                <a:latin typeface="+mj-ea"/>
                <a:ea typeface="+mj-ea"/>
              </a:rPr>
              <a:t> </a:t>
            </a:r>
            <a:r>
              <a:rPr lang="en-US" altLang="ko-KR" sz="1800" b="1" dirty="0">
                <a:latin typeface="+mj-ea"/>
                <a:ea typeface="+mj-ea"/>
              </a:rPr>
              <a:t>MCU</a:t>
            </a:r>
            <a:r>
              <a:rPr lang="ko-KR" altLang="en-US" sz="1800" b="1" dirty="0">
                <a:latin typeface="+mj-ea"/>
                <a:ea typeface="+mj-ea"/>
              </a:rPr>
              <a:t> 개선 방법 학습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</a:t>
            </a:r>
            <a:r>
              <a:rPr lang="en-US" altLang="ko-KR" b="1" dirty="0">
                <a:latin typeface="+mj-ea"/>
                <a:ea typeface="+mj-ea"/>
              </a:rPr>
              <a:t>AMBA APB Bus Protocol </a:t>
            </a:r>
            <a:r>
              <a:rPr lang="ko-KR" altLang="en-US" b="1" dirty="0">
                <a:latin typeface="+mj-ea"/>
                <a:ea typeface="+mj-ea"/>
              </a:rPr>
              <a:t>설계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  <a:ea typeface="+mj-ea"/>
              </a:rPr>
              <a:t>    </a:t>
            </a:r>
            <a:r>
              <a:rPr lang="en-US" altLang="ko-KR" sz="1800" b="1" dirty="0">
                <a:latin typeface="+mj-ea"/>
                <a:ea typeface="+mj-ea"/>
              </a:rPr>
              <a:t>-</a:t>
            </a:r>
            <a:r>
              <a:rPr lang="ko-KR" altLang="en-US" sz="1800" b="1" dirty="0">
                <a:latin typeface="+mj-ea"/>
                <a:ea typeface="+mj-ea"/>
              </a:rPr>
              <a:t> 여러 </a:t>
            </a:r>
            <a:r>
              <a:rPr lang="en-US" altLang="ko-KR" sz="1800" b="1" dirty="0">
                <a:latin typeface="+mj-ea"/>
                <a:ea typeface="+mj-ea"/>
              </a:rPr>
              <a:t>Peripheral</a:t>
            </a:r>
            <a:r>
              <a:rPr lang="ko-KR" altLang="en-US" sz="1800" b="1" dirty="0">
                <a:latin typeface="+mj-ea"/>
                <a:ea typeface="+mj-ea"/>
              </a:rPr>
              <a:t>과 연결하기 위한 </a:t>
            </a:r>
            <a:r>
              <a:rPr lang="en-US" altLang="ko-KR" sz="1800" b="1" dirty="0">
                <a:latin typeface="+mj-ea"/>
                <a:ea typeface="+mj-ea"/>
              </a:rPr>
              <a:t>APB</a:t>
            </a:r>
            <a:r>
              <a:rPr lang="ko-KR" altLang="en-US" sz="1800" b="1" dirty="0">
                <a:latin typeface="+mj-ea"/>
                <a:ea typeface="+mj-ea"/>
              </a:rPr>
              <a:t> 설계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  <a:ea typeface="+mj-ea"/>
              </a:rPr>
              <a:t>    </a:t>
            </a:r>
            <a:r>
              <a:rPr lang="en-US" altLang="ko-KR" sz="1800" b="1" dirty="0">
                <a:latin typeface="+mj-ea"/>
                <a:ea typeface="+mj-ea"/>
              </a:rPr>
              <a:t>-</a:t>
            </a:r>
            <a:r>
              <a:rPr lang="ko-KR" altLang="en-US" sz="1800" b="1" dirty="0">
                <a:latin typeface="+mj-ea"/>
                <a:ea typeface="+mj-ea"/>
              </a:rPr>
              <a:t> </a:t>
            </a:r>
            <a:r>
              <a:rPr lang="en-US" altLang="ko-KR" sz="1800" b="1" dirty="0">
                <a:latin typeface="+mj-ea"/>
                <a:ea typeface="+mj-ea"/>
              </a:rPr>
              <a:t>APB</a:t>
            </a:r>
            <a:r>
              <a:rPr lang="ko-KR" altLang="en-US" sz="1800" b="1" dirty="0">
                <a:latin typeface="+mj-ea"/>
                <a:ea typeface="+mj-ea"/>
              </a:rPr>
              <a:t>에 붙일 다양한 </a:t>
            </a:r>
            <a:r>
              <a:rPr lang="en-US" altLang="ko-KR" sz="1800" b="1" dirty="0">
                <a:latin typeface="+mj-ea"/>
                <a:ea typeface="+mj-ea"/>
              </a:rPr>
              <a:t>Peripheral</a:t>
            </a:r>
            <a:r>
              <a:rPr lang="ko-KR" altLang="en-US" sz="1800" b="1" dirty="0">
                <a:latin typeface="+mj-ea"/>
                <a:ea typeface="+mj-ea"/>
              </a:rPr>
              <a:t> 구현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</a:t>
            </a:r>
            <a:r>
              <a:rPr lang="en-US" altLang="ko-KR" b="1" dirty="0">
                <a:latin typeface="+mj-ea"/>
                <a:ea typeface="+mj-ea"/>
              </a:rPr>
              <a:t>SoC</a:t>
            </a:r>
            <a:r>
              <a:rPr lang="ko-KR" altLang="en-US" b="1" dirty="0">
                <a:latin typeface="+mj-ea"/>
                <a:ea typeface="+mj-ea"/>
              </a:rPr>
              <a:t>동작을 위한 </a:t>
            </a:r>
            <a:r>
              <a:rPr lang="en-US" altLang="ko-KR" b="1" dirty="0">
                <a:latin typeface="+mj-ea"/>
                <a:ea typeface="+mj-ea"/>
              </a:rPr>
              <a:t>C </a:t>
            </a:r>
            <a:r>
              <a:rPr lang="ko-KR" altLang="en-US" b="1" dirty="0">
                <a:latin typeface="+mj-ea"/>
                <a:ea typeface="+mj-ea"/>
              </a:rPr>
              <a:t>코드 디자인 및 컴파일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  <a:ea typeface="+mj-ea"/>
              </a:rPr>
              <a:t>    </a:t>
            </a:r>
            <a:r>
              <a:rPr lang="en-US" altLang="ko-KR" sz="1800" b="1" dirty="0">
                <a:latin typeface="+mj-ea"/>
                <a:ea typeface="+mj-ea"/>
              </a:rPr>
              <a:t>-</a:t>
            </a:r>
            <a:r>
              <a:rPr lang="ko-KR" altLang="en-US" sz="1800" b="1" dirty="0">
                <a:latin typeface="+mj-ea"/>
                <a:ea typeface="+mj-ea"/>
              </a:rPr>
              <a:t> 여러 </a:t>
            </a:r>
            <a:r>
              <a:rPr lang="en-US" altLang="ko-KR" sz="1800" b="1" dirty="0">
                <a:latin typeface="+mj-ea"/>
                <a:ea typeface="+mj-ea"/>
              </a:rPr>
              <a:t>Peripheral</a:t>
            </a:r>
            <a:r>
              <a:rPr lang="ko-KR" altLang="en-US" sz="1800" b="1" dirty="0">
                <a:latin typeface="+mj-ea"/>
                <a:ea typeface="+mj-ea"/>
              </a:rPr>
              <a:t> 제어를 위한 </a:t>
            </a:r>
            <a:r>
              <a:rPr lang="en-US" altLang="ko-KR" sz="1800" b="1" dirty="0">
                <a:latin typeface="+mj-ea"/>
                <a:ea typeface="+mj-ea"/>
              </a:rPr>
              <a:t>C</a:t>
            </a:r>
            <a:r>
              <a:rPr lang="ko-KR" altLang="en-US" sz="1800" b="1" dirty="0">
                <a:latin typeface="+mj-ea"/>
                <a:ea typeface="+mj-ea"/>
              </a:rPr>
              <a:t>코드 디자인</a:t>
            </a:r>
            <a:endParaRPr lang="ko-KR" altLang="en-US" b="1" dirty="0"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  <a:ea typeface="+mj-ea"/>
              </a:rPr>
              <a:t>    </a:t>
            </a:r>
            <a:r>
              <a:rPr lang="en-US" altLang="ko-KR" sz="1800" b="1" dirty="0">
                <a:latin typeface="+mj-ea"/>
                <a:ea typeface="+mj-ea"/>
              </a:rPr>
              <a:t>-</a:t>
            </a:r>
            <a:r>
              <a:rPr lang="ko-KR" altLang="en-US" sz="1800" b="1" dirty="0">
                <a:latin typeface="+mj-ea"/>
                <a:ea typeface="+mj-ea"/>
              </a:rPr>
              <a:t> </a:t>
            </a:r>
            <a:r>
              <a:rPr lang="en-US" altLang="ko-KR" sz="1800" b="1" dirty="0">
                <a:latin typeface="+mj-ea"/>
                <a:ea typeface="+mj-ea"/>
              </a:rPr>
              <a:t>C</a:t>
            </a:r>
            <a:r>
              <a:rPr lang="ko-KR" altLang="en-US" sz="1800" b="1" dirty="0">
                <a:latin typeface="+mj-ea"/>
                <a:ea typeface="+mj-ea"/>
              </a:rPr>
              <a:t>언어에서 제어를 위한 </a:t>
            </a:r>
            <a:r>
              <a:rPr lang="en-US" altLang="ko-KR" sz="1800" b="1" dirty="0">
                <a:latin typeface="+mj-ea"/>
                <a:ea typeface="+mj-ea"/>
              </a:rPr>
              <a:t>Machine Code</a:t>
            </a:r>
            <a:r>
              <a:rPr lang="ko-KR" altLang="en-US" sz="1800" b="1" dirty="0">
                <a:latin typeface="+mj-ea"/>
                <a:ea typeface="+mj-ea"/>
              </a:rPr>
              <a:t>로 변환</a:t>
            </a:r>
          </a:p>
        </p:txBody>
      </p:sp>
      <p:cxnSp>
        <p:nvCxnSpPr>
          <p:cNvPr id="7" name="직선 연결선 6"/>
          <p:cNvCxnSpPr/>
          <p:nvPr/>
        </p:nvCxnSpPr>
        <p:spPr>
          <a:xfrm rot="5400000">
            <a:off x="2911176" y="4069129"/>
            <a:ext cx="5149783" cy="29497"/>
          </a:xfrm>
          <a:prstGeom prst="line">
            <a:avLst/>
          </a:prstGeom>
          <a:ln w="38100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5031" y="1556542"/>
            <a:ext cx="3882838" cy="22225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6382" y="3934619"/>
            <a:ext cx="5105400" cy="255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 Project Introduce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38100" y="2718248"/>
            <a:ext cx="5642794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</a:t>
            </a:r>
            <a:r>
              <a:rPr lang="en-US" altLang="ko-KR" b="1" dirty="0">
                <a:latin typeface="+mj-ea"/>
                <a:ea typeface="+mj-ea"/>
              </a:rPr>
              <a:t>RISCV </a:t>
            </a:r>
            <a:r>
              <a:rPr lang="en-US" altLang="ko-KR" b="1" dirty="0" err="1">
                <a:latin typeface="+mj-ea"/>
                <a:ea typeface="+mj-ea"/>
              </a:rPr>
              <a:t>SingleCycle</a:t>
            </a:r>
            <a:r>
              <a:rPr lang="en-US" altLang="ko-KR" b="1" dirty="0">
                <a:latin typeface="+mj-ea"/>
                <a:ea typeface="+mj-ea"/>
              </a:rPr>
              <a:t> to </a:t>
            </a:r>
            <a:r>
              <a:rPr lang="en-US" altLang="ko-KR" b="1" dirty="0" err="1">
                <a:latin typeface="+mj-ea"/>
                <a:ea typeface="+mj-ea"/>
              </a:rPr>
              <a:t>MultiCycle</a:t>
            </a:r>
            <a:endParaRPr lang="ko-KR" altLang="en-US" sz="1800" b="1" dirty="0"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  <a:ea typeface="+mj-ea"/>
              </a:rPr>
              <a:t>    </a:t>
            </a:r>
            <a:r>
              <a:rPr lang="en-US" altLang="ko-KR" sz="1800" b="1" dirty="0">
                <a:latin typeface="+mj-ea"/>
                <a:ea typeface="+mj-ea"/>
              </a:rPr>
              <a:t>-</a:t>
            </a:r>
            <a:r>
              <a:rPr lang="ko-KR" altLang="en-US" sz="1800" b="1" dirty="0">
                <a:latin typeface="+mj-ea"/>
                <a:ea typeface="+mj-ea"/>
              </a:rPr>
              <a:t> 한 명령어를 </a:t>
            </a:r>
            <a:r>
              <a:rPr lang="en-US" altLang="ko-KR" sz="1800" b="1" dirty="0">
                <a:latin typeface="+mj-ea"/>
                <a:ea typeface="+mj-ea"/>
              </a:rPr>
              <a:t>IF, ID, EXE, MEM, WB</a:t>
            </a:r>
            <a:r>
              <a:rPr lang="ko-KR" altLang="en-US" sz="1800" b="1" dirty="0">
                <a:latin typeface="+mj-ea"/>
                <a:ea typeface="+mj-ea"/>
              </a:rPr>
              <a:t>로 나누어 여러 </a:t>
            </a:r>
            <a:r>
              <a:rPr lang="ko-KR" altLang="en-US" sz="1800" b="1" dirty="0" err="1">
                <a:latin typeface="+mj-ea"/>
                <a:ea typeface="+mj-ea"/>
              </a:rPr>
              <a:t>클록</a:t>
            </a:r>
            <a:r>
              <a:rPr lang="ko-KR" altLang="en-US" sz="1800" b="1" dirty="0">
                <a:latin typeface="+mj-ea"/>
                <a:ea typeface="+mj-ea"/>
              </a:rPr>
              <a:t> 사이클에 걸쳐 실행</a:t>
            </a:r>
            <a:endParaRPr lang="en-US" altLang="ko-KR" sz="1800" b="1" dirty="0"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  <a:ea typeface="+mj-ea"/>
              </a:rPr>
              <a:t>    </a:t>
            </a:r>
            <a:r>
              <a:rPr lang="en-US" altLang="ko-KR" sz="1800" b="1" dirty="0">
                <a:latin typeface="+mj-ea"/>
                <a:ea typeface="+mj-ea"/>
              </a:rPr>
              <a:t>-</a:t>
            </a:r>
            <a:r>
              <a:rPr lang="ko-KR" altLang="en-US" sz="1800" b="1" dirty="0">
                <a:latin typeface="+mj-ea"/>
                <a:ea typeface="+mj-ea"/>
              </a:rPr>
              <a:t> 각 단계가 한 </a:t>
            </a:r>
            <a:r>
              <a:rPr lang="ko-KR" altLang="en-US" sz="1800" b="1" dirty="0" err="1">
                <a:latin typeface="+mj-ea"/>
                <a:ea typeface="+mj-ea"/>
              </a:rPr>
              <a:t>클록</a:t>
            </a:r>
            <a:r>
              <a:rPr lang="ko-KR" altLang="en-US" sz="1800" b="1" dirty="0">
                <a:latin typeface="+mj-ea"/>
                <a:ea typeface="+mj-ea"/>
              </a:rPr>
              <a:t> 사이클에 동작하므로 싱글 사이클에 비해 </a:t>
            </a:r>
            <a:r>
              <a:rPr lang="ko-KR" altLang="en-US" sz="1800" b="1" dirty="0" err="1">
                <a:latin typeface="+mj-ea"/>
                <a:ea typeface="+mj-ea"/>
              </a:rPr>
              <a:t>클록</a:t>
            </a:r>
            <a:r>
              <a:rPr lang="ko-KR" altLang="en-US" sz="1800" b="1" dirty="0">
                <a:latin typeface="+mj-ea"/>
                <a:ea typeface="+mj-ea"/>
              </a:rPr>
              <a:t> 주기 감소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  <a:defRPr/>
            </a:pPr>
            <a:r>
              <a:rPr lang="ko-KR" altLang="en-US" sz="1800" b="1" dirty="0" err="1">
                <a:latin typeface="+mj-ea"/>
                <a:ea typeface="+mj-ea"/>
              </a:rPr>
              <a:t>명령어마다</a:t>
            </a:r>
            <a:r>
              <a:rPr lang="ko-KR" altLang="en-US" sz="1800" b="1" dirty="0">
                <a:latin typeface="+mj-ea"/>
                <a:ea typeface="+mj-ea"/>
              </a:rPr>
              <a:t> 서로 다른 </a:t>
            </a:r>
            <a:r>
              <a:rPr lang="en-US" altLang="ko-KR" sz="1800" b="1" dirty="0">
                <a:latin typeface="+mj-ea"/>
                <a:ea typeface="+mj-ea"/>
              </a:rPr>
              <a:t>CPI</a:t>
            </a:r>
            <a:r>
              <a:rPr lang="ko-KR" altLang="en-US" sz="1800" b="1" dirty="0">
                <a:latin typeface="+mj-ea"/>
                <a:ea typeface="+mj-ea"/>
              </a:rPr>
              <a:t>를 갖게 됨</a:t>
            </a:r>
            <a:endParaRPr lang="en-US" altLang="ko-KR" sz="1800" b="1" dirty="0">
              <a:latin typeface="+mj-ea"/>
              <a:ea typeface="+mj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89" y="2587674"/>
            <a:ext cx="5698453" cy="103200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89" y="3619677"/>
            <a:ext cx="5722511" cy="17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Block Diagram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2478740" y="1627094"/>
            <a:ext cx="6937100" cy="4799321"/>
            <a:chOff x="2233794" y="1052140"/>
            <a:chExt cx="7541406" cy="5549087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3794" y="1302029"/>
              <a:ext cx="7541406" cy="5017443"/>
            </a:xfrm>
            <a:prstGeom prst="rect">
              <a:avLst/>
            </a:prstGeom>
          </p:spPr>
        </p:pic>
        <p:cxnSp>
          <p:nvCxnSpPr>
            <p:cNvPr id="9" name="직선 연결선 8"/>
            <p:cNvCxnSpPr/>
            <p:nvPr/>
          </p:nvCxnSpPr>
          <p:spPr>
            <a:xfrm flipH="1">
              <a:off x="4411884" y="1052140"/>
              <a:ext cx="26651" cy="554089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/>
          </p:nvCxnSpPr>
          <p:spPr>
            <a:xfrm>
              <a:off x="7505700" y="2971800"/>
              <a:ext cx="671513" cy="476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>
            <a:xfrm flipV="1">
              <a:off x="7505701" y="4114800"/>
              <a:ext cx="671512" cy="476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그룹 11"/>
            <p:cNvGrpSpPr/>
            <p:nvPr/>
          </p:nvGrpSpPr>
          <p:grpSpPr>
            <a:xfrm>
              <a:off x="4372188" y="4907280"/>
              <a:ext cx="91872" cy="728169"/>
              <a:chOff x="1364285" y="5130800"/>
              <a:chExt cx="302387" cy="728169"/>
            </a:xfrm>
          </p:grpSpPr>
          <p:sp>
            <p:nvSpPr>
              <p:cNvPr id="34" name="직사각형 33"/>
              <p:cNvSpPr/>
              <p:nvPr/>
            </p:nvSpPr>
            <p:spPr>
              <a:xfrm>
                <a:off x="1364285" y="5130800"/>
                <a:ext cx="302386" cy="728169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이등변 삼각형 34"/>
              <p:cNvSpPr/>
              <p:nvPr/>
            </p:nvSpPr>
            <p:spPr>
              <a:xfrm flipV="1">
                <a:off x="1375420" y="5130800"/>
                <a:ext cx="291252" cy="517410"/>
              </a:xfrm>
              <a:prstGeom prst="triangle">
                <a:avLst>
                  <a:gd name="adj" fmla="val 47384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3" name="그룹 12"/>
            <p:cNvGrpSpPr/>
            <p:nvPr/>
          </p:nvGrpSpPr>
          <p:grpSpPr>
            <a:xfrm>
              <a:off x="6585824" y="2882151"/>
              <a:ext cx="239818" cy="399530"/>
              <a:chOff x="1364285" y="5130800"/>
              <a:chExt cx="302387" cy="728169"/>
            </a:xfrm>
          </p:grpSpPr>
          <p:sp>
            <p:nvSpPr>
              <p:cNvPr id="32" name="직사각형 31"/>
              <p:cNvSpPr/>
              <p:nvPr/>
            </p:nvSpPr>
            <p:spPr>
              <a:xfrm>
                <a:off x="1364285" y="5130800"/>
                <a:ext cx="302386" cy="728169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이등변 삼각형 32"/>
              <p:cNvSpPr/>
              <p:nvPr/>
            </p:nvSpPr>
            <p:spPr>
              <a:xfrm flipV="1">
                <a:off x="1375420" y="5130800"/>
                <a:ext cx="291252" cy="517410"/>
              </a:xfrm>
              <a:prstGeom prst="triangle">
                <a:avLst>
                  <a:gd name="adj" fmla="val 47384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4" name="그룹 13"/>
            <p:cNvGrpSpPr/>
            <p:nvPr/>
          </p:nvGrpSpPr>
          <p:grpSpPr>
            <a:xfrm>
              <a:off x="6555270" y="3308530"/>
              <a:ext cx="51674" cy="399530"/>
              <a:chOff x="1364285" y="5130800"/>
              <a:chExt cx="302387" cy="728169"/>
            </a:xfrm>
          </p:grpSpPr>
          <p:sp>
            <p:nvSpPr>
              <p:cNvPr id="30" name="직사각형 29"/>
              <p:cNvSpPr/>
              <p:nvPr/>
            </p:nvSpPr>
            <p:spPr>
              <a:xfrm>
                <a:off x="1364285" y="5130800"/>
                <a:ext cx="302386" cy="728169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이등변 삼각형 30"/>
              <p:cNvSpPr/>
              <p:nvPr/>
            </p:nvSpPr>
            <p:spPr>
              <a:xfrm flipV="1">
                <a:off x="1375420" y="5130800"/>
                <a:ext cx="291252" cy="517410"/>
              </a:xfrm>
              <a:prstGeom prst="triangle">
                <a:avLst>
                  <a:gd name="adj" fmla="val 47384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" name="그룹 14"/>
            <p:cNvGrpSpPr/>
            <p:nvPr/>
          </p:nvGrpSpPr>
          <p:grpSpPr>
            <a:xfrm>
              <a:off x="6304908" y="4114800"/>
              <a:ext cx="148136" cy="399530"/>
              <a:chOff x="1364285" y="5130800"/>
              <a:chExt cx="302387" cy="728169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1364285" y="5130800"/>
                <a:ext cx="302386" cy="728169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이등변 삼각형 28"/>
              <p:cNvSpPr/>
              <p:nvPr/>
            </p:nvSpPr>
            <p:spPr>
              <a:xfrm flipV="1">
                <a:off x="1375420" y="5130800"/>
                <a:ext cx="291252" cy="517410"/>
              </a:xfrm>
              <a:prstGeom prst="triangle">
                <a:avLst>
                  <a:gd name="adj" fmla="val 47384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/>
            <p:cNvGrpSpPr/>
            <p:nvPr/>
          </p:nvGrpSpPr>
          <p:grpSpPr>
            <a:xfrm>
              <a:off x="7758905" y="2773042"/>
              <a:ext cx="239818" cy="399530"/>
              <a:chOff x="1364285" y="5130800"/>
              <a:chExt cx="302387" cy="728169"/>
            </a:xfrm>
          </p:grpSpPr>
          <p:sp>
            <p:nvSpPr>
              <p:cNvPr id="26" name="직사각형 25"/>
              <p:cNvSpPr/>
              <p:nvPr/>
            </p:nvSpPr>
            <p:spPr>
              <a:xfrm>
                <a:off x="1364285" y="5130800"/>
                <a:ext cx="302386" cy="728169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이등변 삼각형 26"/>
              <p:cNvSpPr/>
              <p:nvPr/>
            </p:nvSpPr>
            <p:spPr>
              <a:xfrm flipV="1">
                <a:off x="1375420" y="5130800"/>
                <a:ext cx="291252" cy="517410"/>
              </a:xfrm>
              <a:prstGeom prst="triangle">
                <a:avLst>
                  <a:gd name="adj" fmla="val 47384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7" name="그룹 16"/>
            <p:cNvGrpSpPr/>
            <p:nvPr/>
          </p:nvGrpSpPr>
          <p:grpSpPr>
            <a:xfrm>
              <a:off x="7805757" y="3857215"/>
              <a:ext cx="239818" cy="399530"/>
              <a:chOff x="1364285" y="5130800"/>
              <a:chExt cx="302387" cy="728169"/>
            </a:xfrm>
          </p:grpSpPr>
          <p:sp>
            <p:nvSpPr>
              <p:cNvPr id="24" name="직사각형 23"/>
              <p:cNvSpPr/>
              <p:nvPr/>
            </p:nvSpPr>
            <p:spPr>
              <a:xfrm>
                <a:off x="1364285" y="5130800"/>
                <a:ext cx="302386" cy="728169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이등변 삼각형 24"/>
              <p:cNvSpPr/>
              <p:nvPr/>
            </p:nvSpPr>
            <p:spPr>
              <a:xfrm flipV="1">
                <a:off x="1375420" y="5130800"/>
                <a:ext cx="291252" cy="517410"/>
              </a:xfrm>
              <a:prstGeom prst="triangle">
                <a:avLst>
                  <a:gd name="adj" fmla="val 47384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" name="그룹 17"/>
            <p:cNvGrpSpPr/>
            <p:nvPr/>
          </p:nvGrpSpPr>
          <p:grpSpPr>
            <a:xfrm>
              <a:off x="8120549" y="4176679"/>
              <a:ext cx="156887" cy="399530"/>
              <a:chOff x="1364285" y="5130800"/>
              <a:chExt cx="302387" cy="728169"/>
            </a:xfrm>
          </p:grpSpPr>
          <p:sp>
            <p:nvSpPr>
              <p:cNvPr id="22" name="직사각형 21"/>
              <p:cNvSpPr/>
              <p:nvPr/>
            </p:nvSpPr>
            <p:spPr>
              <a:xfrm>
                <a:off x="1364285" y="5130800"/>
                <a:ext cx="302386" cy="728169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이등변 삼각형 22"/>
              <p:cNvSpPr/>
              <p:nvPr/>
            </p:nvSpPr>
            <p:spPr>
              <a:xfrm flipV="1">
                <a:off x="1375420" y="5130800"/>
                <a:ext cx="291252" cy="517410"/>
              </a:xfrm>
              <a:prstGeom prst="triangle">
                <a:avLst>
                  <a:gd name="adj" fmla="val 47384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9" name="직선 연결선 18"/>
            <p:cNvCxnSpPr/>
            <p:nvPr/>
          </p:nvCxnSpPr>
          <p:spPr>
            <a:xfrm flipH="1">
              <a:off x="6616625" y="1060337"/>
              <a:ext cx="26651" cy="554089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 flipH="1">
              <a:off x="7865487" y="1052140"/>
              <a:ext cx="26651" cy="554089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flipH="1">
              <a:off x="8179948" y="1060337"/>
              <a:ext cx="26651" cy="554089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"/>
          <p:cNvSpPr txBox="1"/>
          <p:nvPr/>
        </p:nvSpPr>
        <p:spPr>
          <a:xfrm>
            <a:off x="8237680" y="5747030"/>
            <a:ext cx="668843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latin typeface="+mj-ea"/>
                <a:ea typeface="+mj-ea"/>
              </a:rPr>
              <a:t>WB</a:t>
            </a:r>
          </a:p>
        </p:txBody>
      </p:sp>
      <p:sp>
        <p:nvSpPr>
          <p:cNvPr id="38" name="TextBox 3"/>
          <p:cNvSpPr txBox="1"/>
          <p:nvPr/>
        </p:nvSpPr>
        <p:spPr>
          <a:xfrm>
            <a:off x="7490390" y="5762348"/>
            <a:ext cx="8662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latin typeface="+mj-ea"/>
                <a:ea typeface="+mj-ea"/>
              </a:rPr>
              <a:t>MEM</a:t>
            </a:r>
          </a:p>
        </p:txBody>
      </p:sp>
      <p:sp>
        <p:nvSpPr>
          <p:cNvPr id="39" name="TextBox 3"/>
          <p:cNvSpPr txBox="1"/>
          <p:nvPr/>
        </p:nvSpPr>
        <p:spPr>
          <a:xfrm>
            <a:off x="6794075" y="5792100"/>
            <a:ext cx="668843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latin typeface="+mj-ea"/>
                <a:ea typeface="+mj-ea"/>
              </a:rPr>
              <a:t>Exe</a:t>
            </a:r>
          </a:p>
        </p:txBody>
      </p:sp>
      <p:sp>
        <p:nvSpPr>
          <p:cNvPr id="40" name="TextBox 3"/>
          <p:cNvSpPr txBox="1"/>
          <p:nvPr/>
        </p:nvSpPr>
        <p:spPr>
          <a:xfrm>
            <a:off x="4766004" y="5821852"/>
            <a:ext cx="13606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latin typeface="+mj-ea"/>
                <a:ea typeface="+mj-ea"/>
              </a:rPr>
              <a:t>DECODE</a:t>
            </a:r>
          </a:p>
        </p:txBody>
      </p:sp>
      <p:sp>
        <p:nvSpPr>
          <p:cNvPr id="41" name="TextBox 3"/>
          <p:cNvSpPr txBox="1"/>
          <p:nvPr/>
        </p:nvSpPr>
        <p:spPr>
          <a:xfrm>
            <a:off x="2986110" y="5821852"/>
            <a:ext cx="1098348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latin typeface="+mj-ea"/>
                <a:ea typeface="+mj-ea"/>
              </a:rPr>
              <a:t>FETCH</a:t>
            </a:r>
          </a:p>
        </p:txBody>
      </p:sp>
    </p:spTree>
    <p:extLst>
      <p:ext uri="{BB962C8B-B14F-4D97-AF65-F5344CB8AC3E}">
        <p14:creationId xmlns:p14="http://schemas.microsoft.com/office/powerpoint/2010/main" val="2425322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Block Diagram</a:t>
            </a:r>
          </a:p>
        </p:txBody>
      </p:sp>
      <p:sp>
        <p:nvSpPr>
          <p:cNvPr id="1029" name="TextBox 3"/>
          <p:cNvSpPr txBox="1"/>
          <p:nvPr/>
        </p:nvSpPr>
        <p:spPr>
          <a:xfrm>
            <a:off x="5668002" y="2110779"/>
            <a:ext cx="564279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</a:t>
            </a:r>
            <a:r>
              <a:rPr lang="en-US" altLang="ko-KR" b="1" dirty="0">
                <a:latin typeface="+mj-ea"/>
                <a:ea typeface="+mj-ea"/>
              </a:rPr>
              <a:t>IDLE</a:t>
            </a:r>
            <a:r>
              <a:rPr lang="ko-KR" altLang="en-US" sz="1800" b="1" dirty="0">
                <a:latin typeface="+mj-ea"/>
                <a:ea typeface="+mj-ea"/>
              </a:rPr>
              <a:t>    </a:t>
            </a:r>
            <a:endParaRPr lang="en-US" altLang="ko-KR" sz="1800" b="1" dirty="0"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latin typeface="+mj-ea"/>
                <a:ea typeface="+mj-ea"/>
              </a:rPr>
              <a:t>-</a:t>
            </a:r>
            <a:r>
              <a:rPr lang="ko-KR" altLang="en-US" sz="1800" b="1" dirty="0">
                <a:latin typeface="+mj-ea"/>
                <a:ea typeface="+mj-ea"/>
              </a:rPr>
              <a:t> </a:t>
            </a:r>
            <a:r>
              <a:rPr lang="en-US" altLang="ko-KR" sz="1800" b="1" dirty="0">
                <a:latin typeface="+mj-ea"/>
                <a:ea typeface="+mj-ea"/>
              </a:rPr>
              <a:t>Transfer Signal</a:t>
            </a:r>
            <a:r>
              <a:rPr lang="ko-KR" altLang="en-US" sz="1800" b="1" dirty="0">
                <a:latin typeface="+mj-ea"/>
                <a:ea typeface="+mj-ea"/>
              </a:rPr>
              <a:t>이 들어오면 다음 </a:t>
            </a:r>
            <a:r>
              <a:rPr lang="en-US" altLang="ko-KR" sz="1800" b="1" dirty="0">
                <a:latin typeface="+mj-ea"/>
                <a:ea typeface="+mj-ea"/>
              </a:rPr>
              <a:t>State</a:t>
            </a:r>
            <a:r>
              <a:rPr lang="ko-KR" altLang="en-US" sz="1800" b="1" dirty="0">
                <a:latin typeface="+mj-ea"/>
                <a:ea typeface="+mj-ea"/>
              </a:rPr>
              <a:t>로 </a:t>
            </a:r>
            <a:r>
              <a:rPr lang="en-US" altLang="ko-KR" sz="1800" b="1" dirty="0">
                <a:latin typeface="+mj-ea"/>
                <a:ea typeface="+mj-ea"/>
              </a:rPr>
              <a:t>GO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</a:t>
            </a:r>
            <a:r>
              <a:rPr lang="en-US" altLang="ko-KR" b="1" dirty="0">
                <a:latin typeface="+mj-ea"/>
                <a:ea typeface="+mj-ea"/>
              </a:rPr>
              <a:t>SETUP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  <a:ea typeface="+mj-ea"/>
              </a:rPr>
              <a:t>    </a:t>
            </a:r>
            <a:r>
              <a:rPr lang="en-US" altLang="ko-KR" sz="1800" b="1" dirty="0">
                <a:latin typeface="+mj-ea"/>
                <a:ea typeface="+mj-ea"/>
              </a:rPr>
              <a:t>- PSEL = 1, PENALBE = 0</a:t>
            </a:r>
            <a:r>
              <a:rPr lang="ko-KR" altLang="en-US" sz="1800" b="1" dirty="0">
                <a:latin typeface="+mj-ea"/>
                <a:ea typeface="+mj-ea"/>
              </a:rPr>
              <a:t>이 들어오면  </a:t>
            </a:r>
            <a:r>
              <a:rPr lang="ko-KR" altLang="en-US" sz="1800" b="1" dirty="0">
                <a:latin typeface="+mj-ea"/>
              </a:rPr>
              <a:t>다음 </a:t>
            </a:r>
            <a:r>
              <a:rPr lang="en-US" altLang="ko-KR" sz="1800" b="1" dirty="0">
                <a:latin typeface="+mj-ea"/>
              </a:rPr>
              <a:t>State</a:t>
            </a:r>
            <a:r>
              <a:rPr lang="ko-KR" altLang="en-US" sz="1800" b="1" dirty="0">
                <a:latin typeface="+mj-ea"/>
              </a:rPr>
              <a:t>로 </a:t>
            </a:r>
            <a:r>
              <a:rPr lang="en-US" altLang="ko-KR" sz="1800" b="1" dirty="0">
                <a:latin typeface="+mj-ea"/>
              </a:rPr>
              <a:t>GO</a:t>
            </a:r>
            <a:endParaRPr lang="en-US" altLang="ko-KR" sz="1800" b="1" dirty="0"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</a:t>
            </a:r>
            <a:r>
              <a:rPr lang="en-US" altLang="ko-KR" b="1" dirty="0">
                <a:latin typeface="+mj-ea"/>
                <a:ea typeface="+mj-ea"/>
              </a:rPr>
              <a:t>ACCESS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ko-KR" altLang="en-US" sz="1800" b="1" dirty="0">
                <a:latin typeface="+mj-ea"/>
                <a:ea typeface="+mj-ea"/>
              </a:rPr>
              <a:t>   </a:t>
            </a:r>
            <a:r>
              <a:rPr lang="en-US" altLang="ko-KR" sz="1800" b="1" dirty="0">
                <a:latin typeface="+mj-ea"/>
                <a:ea typeface="+mj-ea"/>
              </a:rPr>
              <a:t>- PREADY Signal</a:t>
            </a:r>
            <a:r>
              <a:rPr lang="ko-KR" altLang="en-US" sz="1800" b="1" dirty="0">
                <a:latin typeface="+mj-ea"/>
                <a:ea typeface="+mj-ea"/>
              </a:rPr>
              <a:t>이 들어올 때까지 </a:t>
            </a:r>
            <a:r>
              <a:rPr lang="en-US" altLang="ko-KR" sz="1800" b="1" dirty="0">
                <a:latin typeface="+mj-ea"/>
                <a:ea typeface="+mj-ea"/>
              </a:rPr>
              <a:t>ACCESS </a:t>
            </a:r>
            <a:r>
              <a:rPr lang="ko-KR" altLang="en-US" sz="1800" b="1" dirty="0">
                <a:latin typeface="+mj-ea"/>
                <a:ea typeface="+mj-ea"/>
              </a:rPr>
              <a:t>상태를 유지하며 이후 </a:t>
            </a:r>
            <a:r>
              <a:rPr lang="en-US" altLang="ko-KR" sz="1800" b="1" dirty="0">
                <a:latin typeface="+mj-ea"/>
                <a:ea typeface="+mj-ea"/>
              </a:rPr>
              <a:t>IDLE </a:t>
            </a:r>
            <a:r>
              <a:rPr lang="ko-KR" altLang="en-US" sz="1800" b="1" dirty="0">
                <a:latin typeface="+mj-ea"/>
                <a:ea typeface="+mj-ea"/>
              </a:rPr>
              <a:t>상태로 </a:t>
            </a:r>
            <a:r>
              <a:rPr lang="en-US" altLang="ko-KR" sz="1800" b="1" dirty="0">
                <a:latin typeface="+mj-ea"/>
                <a:ea typeface="+mj-ea"/>
              </a:rPr>
              <a:t>GO</a:t>
            </a:r>
            <a:r>
              <a:rPr lang="ko-KR" altLang="en-US" sz="1800" b="1" dirty="0">
                <a:latin typeface="+mj-ea"/>
                <a:ea typeface="+mj-ea"/>
              </a:rPr>
              <a:t> </a:t>
            </a:r>
            <a:endParaRPr lang="en-US" altLang="ko-KR" sz="1800" b="1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334" y="1731953"/>
            <a:ext cx="3037805" cy="266594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462" y="4397899"/>
            <a:ext cx="4371648" cy="218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9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 Block Diagram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449650" y="2950769"/>
            <a:ext cx="2526975" cy="235492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RISCV 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MCU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707856" y="1650736"/>
            <a:ext cx="835692" cy="49318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APB BUS</a:t>
            </a:r>
          </a:p>
        </p:txBody>
      </p:sp>
      <p:cxnSp>
        <p:nvCxnSpPr>
          <p:cNvPr id="13" name="직선 화살표 연결선 12"/>
          <p:cNvCxnSpPr/>
          <p:nvPr/>
        </p:nvCxnSpPr>
        <p:spPr>
          <a:xfrm flipV="1">
            <a:off x="3976626" y="4116652"/>
            <a:ext cx="731230" cy="11580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6492877" y="5852629"/>
            <a:ext cx="4345539" cy="48226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RAM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6484830" y="5281727"/>
            <a:ext cx="4345539" cy="48226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GPOA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496901" y="4714735"/>
            <a:ext cx="4345539" cy="48226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GIOB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488854" y="4143832"/>
            <a:ext cx="4345539" cy="48226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GPIOC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470749" y="3589875"/>
            <a:ext cx="4345539" cy="48226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GPIOD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498915" y="3018972"/>
            <a:ext cx="4345539" cy="48226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FND</a:t>
            </a:r>
          </a:p>
        </p:txBody>
      </p:sp>
      <p:cxnSp>
        <p:nvCxnSpPr>
          <p:cNvPr id="15" name="직선 화살표 연결선 14"/>
          <p:cNvCxnSpPr/>
          <p:nvPr/>
        </p:nvCxnSpPr>
        <p:spPr>
          <a:xfrm flipV="1">
            <a:off x="5571714" y="3823189"/>
            <a:ext cx="900795" cy="3257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V="1">
            <a:off x="5571714" y="4386271"/>
            <a:ext cx="900795" cy="3257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V="1">
            <a:off x="5571714" y="4914159"/>
            <a:ext cx="900795" cy="3257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V="1">
            <a:off x="5571714" y="5474634"/>
            <a:ext cx="900795" cy="3257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 flipV="1">
            <a:off x="5571714" y="6063784"/>
            <a:ext cx="900795" cy="3257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V="1">
            <a:off x="5571714" y="3278354"/>
            <a:ext cx="900795" cy="3257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6470749" y="2406019"/>
            <a:ext cx="4345539" cy="48226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UART</a:t>
            </a:r>
          </a:p>
        </p:txBody>
      </p:sp>
      <p:cxnSp>
        <p:nvCxnSpPr>
          <p:cNvPr id="23" name="직선 화살표 연결선 22"/>
          <p:cNvCxnSpPr/>
          <p:nvPr/>
        </p:nvCxnSpPr>
        <p:spPr>
          <a:xfrm flipV="1">
            <a:off x="5543548" y="2665401"/>
            <a:ext cx="900795" cy="3257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6484830" y="1805478"/>
            <a:ext cx="4345539" cy="48226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TIMER</a:t>
            </a:r>
          </a:p>
        </p:txBody>
      </p:sp>
      <p:cxnSp>
        <p:nvCxnSpPr>
          <p:cNvPr id="25" name="직선 화살표 연결선 24"/>
          <p:cNvCxnSpPr/>
          <p:nvPr/>
        </p:nvCxnSpPr>
        <p:spPr>
          <a:xfrm flipV="1">
            <a:off x="5557629" y="2064860"/>
            <a:ext cx="900795" cy="3257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 Block Diagram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412483" y="2961352"/>
            <a:ext cx="2526975" cy="235492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RISCV 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MCU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670688" y="1661319"/>
            <a:ext cx="835692" cy="49318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APB BUS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5395164" y="1624777"/>
            <a:ext cx="5959432" cy="4947533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 flipV="1">
            <a:off x="2939459" y="4127235"/>
            <a:ext cx="731229" cy="11580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flipV="1">
            <a:off x="4488722" y="2858084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 flipV="1">
            <a:off x="4488722" y="3691959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4488722" y="4473717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4488722" y="5303732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4488722" y="6176213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 flipV="1">
            <a:off x="4488722" y="2051232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5507300" y="1960168"/>
            <a:ext cx="1405142" cy="410117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0" name="TextBox 3"/>
          <p:cNvSpPr txBox="1"/>
          <p:nvPr/>
        </p:nvSpPr>
        <p:spPr>
          <a:xfrm>
            <a:off x="5386449" y="1495532"/>
            <a:ext cx="2106385" cy="548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APB Interface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5574454" y="3214418"/>
            <a:ext cx="1256975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563871" y="4001818"/>
            <a:ext cx="1256975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6" name="TextBox 3"/>
          <p:cNvSpPr txBox="1"/>
          <p:nvPr/>
        </p:nvSpPr>
        <p:spPr>
          <a:xfrm>
            <a:off x="5582921" y="3197465"/>
            <a:ext cx="1450218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[7:0] CR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7215291" y="2292484"/>
            <a:ext cx="3170600" cy="327937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52" name="TextBox 3"/>
          <p:cNvSpPr txBox="1"/>
          <p:nvPr/>
        </p:nvSpPr>
        <p:spPr>
          <a:xfrm>
            <a:off x="8372903" y="1815970"/>
            <a:ext cx="1450220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GPO</a:t>
            </a:r>
          </a:p>
        </p:txBody>
      </p:sp>
      <p:sp>
        <p:nvSpPr>
          <p:cNvPr id="59" name="TextBox 3"/>
          <p:cNvSpPr txBox="1"/>
          <p:nvPr/>
        </p:nvSpPr>
        <p:spPr>
          <a:xfrm>
            <a:off x="5475716" y="3990147"/>
            <a:ext cx="14502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[7:0] ODR</a:t>
            </a:r>
          </a:p>
        </p:txBody>
      </p:sp>
      <p:sp>
        <p:nvSpPr>
          <p:cNvPr id="2" name="이등변 삼각형 1"/>
          <p:cNvSpPr/>
          <p:nvPr/>
        </p:nvSpPr>
        <p:spPr>
          <a:xfrm rot="5400000">
            <a:off x="8658235" y="4010952"/>
            <a:ext cx="613954" cy="49449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/>
          <p:cNvCxnSpPr>
            <a:endCxn id="2" idx="3"/>
          </p:cNvCxnSpPr>
          <p:nvPr/>
        </p:nvCxnSpPr>
        <p:spPr>
          <a:xfrm flipV="1">
            <a:off x="6829561" y="4258199"/>
            <a:ext cx="1888404" cy="312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6839896" y="3440256"/>
            <a:ext cx="2125316" cy="276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>
            <a:endCxn id="2" idx="1"/>
          </p:cNvCxnSpPr>
          <p:nvPr/>
        </p:nvCxnSpPr>
        <p:spPr>
          <a:xfrm>
            <a:off x="8965212" y="3440256"/>
            <a:ext cx="0" cy="6644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 flipV="1">
            <a:off x="9211442" y="4226946"/>
            <a:ext cx="1888404" cy="312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61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 Block Diagram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412483" y="2961352"/>
            <a:ext cx="2526975" cy="235492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RISCV 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MCU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670688" y="1661319"/>
            <a:ext cx="835692" cy="49318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APB BUS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5395164" y="1624777"/>
            <a:ext cx="5959432" cy="4947533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 flipV="1">
            <a:off x="2939459" y="4127235"/>
            <a:ext cx="731229" cy="11580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flipV="1">
            <a:off x="4488722" y="2858084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 flipV="1">
            <a:off x="4488722" y="3691959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4488722" y="4473717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4488722" y="5303732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4488722" y="6176213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 flipV="1">
            <a:off x="4488722" y="2051232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5507300" y="1960168"/>
            <a:ext cx="1405142" cy="410117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0" name="TextBox 3"/>
          <p:cNvSpPr txBox="1"/>
          <p:nvPr/>
        </p:nvSpPr>
        <p:spPr>
          <a:xfrm>
            <a:off x="5386449" y="1495532"/>
            <a:ext cx="2106385" cy="548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APB Interface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5574454" y="3214418"/>
            <a:ext cx="1256975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563871" y="4001818"/>
            <a:ext cx="1256975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6" name="TextBox 3"/>
          <p:cNvSpPr txBox="1"/>
          <p:nvPr/>
        </p:nvSpPr>
        <p:spPr>
          <a:xfrm>
            <a:off x="5668824" y="3235681"/>
            <a:ext cx="145021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solidFill>
                  <a:schemeClr val="dk1"/>
                </a:solidFill>
                <a:latin typeface="+mj-ea"/>
                <a:ea typeface="+mj-ea"/>
              </a:rPr>
              <a:t>[7:0] CR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7215291" y="2292484"/>
            <a:ext cx="3170600" cy="327937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59" name="TextBox 3"/>
          <p:cNvSpPr txBox="1"/>
          <p:nvPr/>
        </p:nvSpPr>
        <p:spPr>
          <a:xfrm>
            <a:off x="5561619" y="4028363"/>
            <a:ext cx="145021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solidFill>
                  <a:schemeClr val="dk1"/>
                </a:solidFill>
                <a:latin typeface="+mj-ea"/>
                <a:ea typeface="+mj-ea"/>
              </a:rPr>
              <a:t>[7:0] IDR</a:t>
            </a:r>
          </a:p>
        </p:txBody>
      </p:sp>
      <p:sp>
        <p:nvSpPr>
          <p:cNvPr id="21" name="TextBox 3"/>
          <p:cNvSpPr txBox="1"/>
          <p:nvPr/>
        </p:nvSpPr>
        <p:spPr>
          <a:xfrm>
            <a:off x="8486332" y="1815970"/>
            <a:ext cx="1450220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GPI</a:t>
            </a:r>
          </a:p>
        </p:txBody>
      </p:sp>
      <p:sp>
        <p:nvSpPr>
          <p:cNvPr id="22" name="이등변 삼각형 21"/>
          <p:cNvSpPr/>
          <p:nvPr/>
        </p:nvSpPr>
        <p:spPr>
          <a:xfrm rot="16200000" flipH="1">
            <a:off x="8658235" y="4010952"/>
            <a:ext cx="613954" cy="49449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연결선 22"/>
          <p:cNvCxnSpPr>
            <a:endCxn id="22" idx="0"/>
          </p:cNvCxnSpPr>
          <p:nvPr/>
        </p:nvCxnSpPr>
        <p:spPr>
          <a:xfrm flipV="1">
            <a:off x="6829561" y="4258199"/>
            <a:ext cx="1888404" cy="312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6839896" y="3440256"/>
            <a:ext cx="2125316" cy="276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endCxn id="22" idx="1"/>
          </p:cNvCxnSpPr>
          <p:nvPr/>
        </p:nvCxnSpPr>
        <p:spPr>
          <a:xfrm>
            <a:off x="8965212" y="3440256"/>
            <a:ext cx="0" cy="6644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V="1">
            <a:off x="9211442" y="4226946"/>
            <a:ext cx="1888404" cy="312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34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 Block Diagram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412483" y="2961352"/>
            <a:ext cx="2526975" cy="235492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RISCV 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MCU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670688" y="1661319"/>
            <a:ext cx="835692" cy="49318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APB BUS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5395164" y="1624777"/>
            <a:ext cx="5959432" cy="4947533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 flipV="1">
            <a:off x="2939459" y="4127235"/>
            <a:ext cx="731229" cy="11580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flipV="1">
            <a:off x="4488722" y="2858084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 flipV="1">
            <a:off x="4488722" y="3691959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4488722" y="4473717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4488722" y="5303732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4488722" y="6176213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 flipV="1">
            <a:off x="4488722" y="2051232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5507300" y="1960168"/>
            <a:ext cx="1405142" cy="410117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0" name="TextBox 3"/>
          <p:cNvSpPr txBox="1"/>
          <p:nvPr/>
        </p:nvSpPr>
        <p:spPr>
          <a:xfrm>
            <a:off x="5386449" y="1495532"/>
            <a:ext cx="2106385" cy="548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APB Interface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5573999" y="3674671"/>
            <a:ext cx="1256975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sz="1800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563416" y="4462071"/>
            <a:ext cx="1256975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sz="1800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8" name="TextBox 3"/>
          <p:cNvSpPr txBox="1"/>
          <p:nvPr/>
        </p:nvSpPr>
        <p:spPr>
          <a:xfrm>
            <a:off x="5559722" y="3668321"/>
            <a:ext cx="145021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solidFill>
                  <a:schemeClr val="dk1"/>
                </a:solidFill>
                <a:latin typeface="+mj-ea"/>
                <a:ea typeface="+mj-ea"/>
              </a:rPr>
              <a:t>[7:0] ODR</a:t>
            </a:r>
          </a:p>
        </p:txBody>
      </p:sp>
      <p:sp>
        <p:nvSpPr>
          <p:cNvPr id="49" name="TextBox 3"/>
          <p:cNvSpPr txBox="1"/>
          <p:nvPr/>
        </p:nvSpPr>
        <p:spPr>
          <a:xfrm>
            <a:off x="5538556" y="4462071"/>
            <a:ext cx="145021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solidFill>
                  <a:schemeClr val="dk1"/>
                </a:solidFill>
                <a:latin typeface="+mj-ea"/>
                <a:ea typeface="+mj-ea"/>
              </a:rPr>
              <a:t>[7:0] IDR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7215291" y="2292484"/>
            <a:ext cx="3170600" cy="327937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553055" y="2858084"/>
            <a:ext cx="1256975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sz="1800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27" name="TextBox 3"/>
          <p:cNvSpPr txBox="1"/>
          <p:nvPr/>
        </p:nvSpPr>
        <p:spPr>
          <a:xfrm>
            <a:off x="5528195" y="2858084"/>
            <a:ext cx="145021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solidFill>
                  <a:schemeClr val="dk1"/>
                </a:solidFill>
                <a:latin typeface="+mj-ea"/>
                <a:ea typeface="+mj-ea"/>
              </a:rPr>
              <a:t>[7:0] CR</a:t>
            </a:r>
          </a:p>
        </p:txBody>
      </p:sp>
      <p:sp>
        <p:nvSpPr>
          <p:cNvPr id="46" name="TextBox 3"/>
          <p:cNvSpPr txBox="1"/>
          <p:nvPr/>
        </p:nvSpPr>
        <p:spPr>
          <a:xfrm>
            <a:off x="8329818" y="1837187"/>
            <a:ext cx="1450220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GPO</a:t>
            </a:r>
          </a:p>
        </p:txBody>
      </p:sp>
      <p:cxnSp>
        <p:nvCxnSpPr>
          <p:cNvPr id="50" name="직선 연결선 49"/>
          <p:cNvCxnSpPr>
            <a:endCxn id="47" idx="3"/>
          </p:cNvCxnSpPr>
          <p:nvPr/>
        </p:nvCxnSpPr>
        <p:spPr>
          <a:xfrm flipV="1">
            <a:off x="6818745" y="3925570"/>
            <a:ext cx="1888404" cy="312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>
            <a:cxnSpLocks/>
          </p:cNvCxnSpPr>
          <p:nvPr/>
        </p:nvCxnSpPr>
        <p:spPr>
          <a:xfrm flipV="1">
            <a:off x="6816380" y="3106000"/>
            <a:ext cx="2922139" cy="292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>
            <a:endCxn id="47" idx="1"/>
          </p:cNvCxnSpPr>
          <p:nvPr/>
        </p:nvCxnSpPr>
        <p:spPr>
          <a:xfrm>
            <a:off x="8954396" y="3107627"/>
            <a:ext cx="0" cy="6644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 flipV="1">
            <a:off x="9200626" y="3894317"/>
            <a:ext cx="1888404" cy="312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이등변 삼각형 54"/>
          <p:cNvSpPr/>
          <p:nvPr/>
        </p:nvSpPr>
        <p:spPr>
          <a:xfrm rot="16200000" flipH="1">
            <a:off x="9419215" y="4377283"/>
            <a:ext cx="613954" cy="49449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연결선 55"/>
          <p:cNvCxnSpPr>
            <a:endCxn id="55" idx="1"/>
          </p:cNvCxnSpPr>
          <p:nvPr/>
        </p:nvCxnSpPr>
        <p:spPr>
          <a:xfrm flipH="1">
            <a:off x="9726192" y="3107627"/>
            <a:ext cx="7006" cy="13634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이등변 삼각형 46"/>
          <p:cNvSpPr/>
          <p:nvPr/>
        </p:nvSpPr>
        <p:spPr>
          <a:xfrm rot="5400000">
            <a:off x="8647419" y="3678323"/>
            <a:ext cx="613954" cy="49449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연결선 56"/>
          <p:cNvCxnSpPr>
            <a:cxnSpLocks/>
            <a:endCxn id="55" idx="0"/>
          </p:cNvCxnSpPr>
          <p:nvPr/>
        </p:nvCxnSpPr>
        <p:spPr>
          <a:xfrm flipV="1">
            <a:off x="6829080" y="4624530"/>
            <a:ext cx="2649865" cy="103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>
            <a:cxnSpLocks/>
          </p:cNvCxnSpPr>
          <p:nvPr/>
        </p:nvCxnSpPr>
        <p:spPr>
          <a:xfrm>
            <a:off x="9969500" y="4593277"/>
            <a:ext cx="114958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8427278" y="3932172"/>
            <a:ext cx="0" cy="690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36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 Block Diagram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412483" y="2961352"/>
            <a:ext cx="2526975" cy="235492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RISCV 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MCU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670688" y="1661319"/>
            <a:ext cx="835692" cy="49318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APB BUS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5395164" y="1624777"/>
            <a:ext cx="5959432" cy="4947533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 flipV="1">
            <a:off x="2939459" y="4127235"/>
            <a:ext cx="731229" cy="11580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flipV="1">
            <a:off x="4488722" y="2858084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 flipV="1">
            <a:off x="4488722" y="3691959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4488722" y="4473717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4488722" y="5303732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4488722" y="6176213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 flipV="1">
            <a:off x="4488722" y="2051232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5507300" y="1960168"/>
            <a:ext cx="1405142" cy="410117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0" name="TextBox 3"/>
          <p:cNvSpPr txBox="1"/>
          <p:nvPr/>
        </p:nvSpPr>
        <p:spPr>
          <a:xfrm>
            <a:off x="5386449" y="1495532"/>
            <a:ext cx="2106385" cy="548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APB Interface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5614079" y="2982655"/>
            <a:ext cx="1256975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sz="1800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603496" y="3770055"/>
            <a:ext cx="1256975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sz="1800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8" name="TextBox 3"/>
          <p:cNvSpPr txBox="1"/>
          <p:nvPr/>
        </p:nvSpPr>
        <p:spPr>
          <a:xfrm>
            <a:off x="5599802" y="2976305"/>
            <a:ext cx="145021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solidFill>
                  <a:schemeClr val="dk1"/>
                </a:solidFill>
                <a:latin typeface="+mj-ea"/>
                <a:ea typeface="+mj-ea"/>
              </a:rPr>
              <a:t>[13:0] FDR</a:t>
            </a:r>
          </a:p>
        </p:txBody>
      </p:sp>
      <p:sp>
        <p:nvSpPr>
          <p:cNvPr id="49" name="TextBox 3"/>
          <p:cNvSpPr txBox="1"/>
          <p:nvPr/>
        </p:nvSpPr>
        <p:spPr>
          <a:xfrm>
            <a:off x="5578636" y="3770055"/>
            <a:ext cx="145021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solidFill>
                  <a:schemeClr val="dk1"/>
                </a:solidFill>
                <a:latin typeface="+mj-ea"/>
                <a:ea typeface="+mj-ea"/>
              </a:rPr>
              <a:t>[3:0] FPR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7215291" y="2292484"/>
            <a:ext cx="3170600" cy="327937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593135" y="2166068"/>
            <a:ext cx="1256975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sz="1800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27" name="TextBox 3"/>
          <p:cNvSpPr txBox="1"/>
          <p:nvPr/>
        </p:nvSpPr>
        <p:spPr>
          <a:xfrm>
            <a:off x="5860375" y="2166068"/>
            <a:ext cx="145021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solidFill>
                  <a:schemeClr val="dk1"/>
                </a:solidFill>
                <a:latin typeface="+mj-ea"/>
                <a:ea typeface="+mj-ea"/>
              </a:rPr>
              <a:t>FCR</a:t>
            </a:r>
          </a:p>
        </p:txBody>
      </p:sp>
      <p:sp>
        <p:nvSpPr>
          <p:cNvPr id="46" name="TextBox 3"/>
          <p:cNvSpPr txBox="1"/>
          <p:nvPr/>
        </p:nvSpPr>
        <p:spPr>
          <a:xfrm>
            <a:off x="8329818" y="1837187"/>
            <a:ext cx="1450220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FND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0A04397-5A23-4056-A625-4790CBAE1607}"/>
              </a:ext>
            </a:extLst>
          </p:cNvPr>
          <p:cNvSpPr/>
          <p:nvPr/>
        </p:nvSpPr>
        <p:spPr>
          <a:xfrm>
            <a:off x="5603718" y="4494623"/>
            <a:ext cx="1256975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sz="1800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A4E317F-5C60-421D-BFF0-641CA9956C0A}"/>
              </a:ext>
            </a:extLst>
          </p:cNvPr>
          <p:cNvSpPr/>
          <p:nvPr/>
        </p:nvSpPr>
        <p:spPr>
          <a:xfrm>
            <a:off x="5593135" y="5282023"/>
            <a:ext cx="1256975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sz="1800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52" name="TextBox 3">
            <a:extLst>
              <a:ext uri="{FF2B5EF4-FFF2-40B4-BE49-F238E27FC236}">
                <a16:creationId xmlns:a16="http://schemas.microsoft.com/office/drawing/2014/main" id="{310FEBAC-F355-4E33-9EFD-4A44AF08948B}"/>
              </a:ext>
            </a:extLst>
          </p:cNvPr>
          <p:cNvSpPr txBox="1"/>
          <p:nvPr/>
        </p:nvSpPr>
        <p:spPr>
          <a:xfrm>
            <a:off x="5589441" y="4488273"/>
            <a:ext cx="145021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solidFill>
                  <a:schemeClr val="dk1"/>
                </a:solidFill>
                <a:latin typeface="+mj-ea"/>
                <a:ea typeface="+mj-ea"/>
              </a:rPr>
              <a:t>Slv_reg4</a:t>
            </a:r>
          </a:p>
        </p:txBody>
      </p:sp>
      <p:sp>
        <p:nvSpPr>
          <p:cNvPr id="60" name="TextBox 3">
            <a:extLst>
              <a:ext uri="{FF2B5EF4-FFF2-40B4-BE49-F238E27FC236}">
                <a16:creationId xmlns:a16="http://schemas.microsoft.com/office/drawing/2014/main" id="{B0161A8D-4A47-4DEF-A46B-DDF30141D02B}"/>
              </a:ext>
            </a:extLst>
          </p:cNvPr>
          <p:cNvSpPr txBox="1"/>
          <p:nvPr/>
        </p:nvSpPr>
        <p:spPr>
          <a:xfrm>
            <a:off x="5568275" y="5282023"/>
            <a:ext cx="145021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solidFill>
                  <a:schemeClr val="dk1"/>
                </a:solidFill>
                <a:latin typeface="+mj-ea"/>
                <a:ea typeface="+mj-ea"/>
              </a:rPr>
              <a:t>Slv_reg5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F15C467-DB2A-45C2-A9EC-6AD600B10532}"/>
              </a:ext>
            </a:extLst>
          </p:cNvPr>
          <p:cNvSpPr/>
          <p:nvPr/>
        </p:nvSpPr>
        <p:spPr>
          <a:xfrm>
            <a:off x="9605724" y="2425452"/>
            <a:ext cx="630766" cy="342394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 dirty="0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64" name="TextBox 3">
            <a:extLst>
              <a:ext uri="{FF2B5EF4-FFF2-40B4-BE49-F238E27FC236}">
                <a16:creationId xmlns:a16="http://schemas.microsoft.com/office/drawing/2014/main" id="{D98D9D64-AEED-4C50-B201-CA8C5D0C7BBB}"/>
              </a:ext>
            </a:extLst>
          </p:cNvPr>
          <p:cNvSpPr txBox="1"/>
          <p:nvPr/>
        </p:nvSpPr>
        <p:spPr>
          <a:xfrm>
            <a:off x="9555736" y="2420699"/>
            <a:ext cx="874223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 err="1">
                <a:solidFill>
                  <a:schemeClr val="dk1"/>
                </a:solidFill>
                <a:latin typeface="+mj-ea"/>
                <a:ea typeface="+mj-ea"/>
              </a:rPr>
              <a:t>Bcd</a:t>
            </a: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 to seg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F427708E-D298-4AF3-B5D8-B3F4A326CFCF}"/>
              </a:ext>
            </a:extLst>
          </p:cNvPr>
          <p:cNvCxnSpPr>
            <a:cxnSpLocks/>
          </p:cNvCxnSpPr>
          <p:nvPr/>
        </p:nvCxnSpPr>
        <p:spPr>
          <a:xfrm flipH="1">
            <a:off x="6871054" y="4772502"/>
            <a:ext cx="2705770" cy="43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566F31F-3100-4831-A773-9BE1A2B4C597}"/>
              </a:ext>
            </a:extLst>
          </p:cNvPr>
          <p:cNvSpPr/>
          <p:nvPr/>
        </p:nvSpPr>
        <p:spPr>
          <a:xfrm>
            <a:off x="9060972" y="2338988"/>
            <a:ext cx="1250163" cy="877287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68" name="TextBox 3">
            <a:extLst>
              <a:ext uri="{FF2B5EF4-FFF2-40B4-BE49-F238E27FC236}">
                <a16:creationId xmlns:a16="http://schemas.microsoft.com/office/drawing/2014/main" id="{2F235918-AF9E-41B5-81CE-144795DEFCEC}"/>
              </a:ext>
            </a:extLst>
          </p:cNvPr>
          <p:cNvSpPr txBox="1"/>
          <p:nvPr/>
        </p:nvSpPr>
        <p:spPr>
          <a:xfrm>
            <a:off x="9025289" y="2406411"/>
            <a:ext cx="516741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DATA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139FE75-F8EE-40DC-9355-D7AD8F92B375}"/>
              </a:ext>
            </a:extLst>
          </p:cNvPr>
          <p:cNvSpPr txBox="1"/>
          <p:nvPr/>
        </p:nvSpPr>
        <p:spPr>
          <a:xfrm>
            <a:off x="9640985" y="2671401"/>
            <a:ext cx="949247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 err="1">
                <a:solidFill>
                  <a:schemeClr val="dk1"/>
                </a:solidFill>
                <a:latin typeface="+mj-ea"/>
                <a:ea typeface="+mj-ea"/>
              </a:rPr>
              <a:t>Seg_Value</a:t>
            </a:r>
            <a:endParaRPr lang="en-US" altLang="ko-KR" sz="900" b="1" dirty="0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71" name="TextBox 3">
            <a:extLst>
              <a:ext uri="{FF2B5EF4-FFF2-40B4-BE49-F238E27FC236}">
                <a16:creationId xmlns:a16="http://schemas.microsoft.com/office/drawing/2014/main" id="{070B2E10-9F75-4501-BCA2-066ACF9593A8}"/>
              </a:ext>
            </a:extLst>
          </p:cNvPr>
          <p:cNvSpPr txBox="1"/>
          <p:nvPr/>
        </p:nvSpPr>
        <p:spPr>
          <a:xfrm>
            <a:off x="9034004" y="2604734"/>
            <a:ext cx="516741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FPR</a:t>
            </a:r>
          </a:p>
        </p:txBody>
      </p:sp>
      <p:sp>
        <p:nvSpPr>
          <p:cNvPr id="72" name="TextBox 3">
            <a:extLst>
              <a:ext uri="{FF2B5EF4-FFF2-40B4-BE49-F238E27FC236}">
                <a16:creationId xmlns:a16="http://schemas.microsoft.com/office/drawing/2014/main" id="{463EFAFD-8B2A-41B2-B0B9-EAA6850B58CF}"/>
              </a:ext>
            </a:extLst>
          </p:cNvPr>
          <p:cNvSpPr txBox="1"/>
          <p:nvPr/>
        </p:nvSpPr>
        <p:spPr>
          <a:xfrm>
            <a:off x="9032397" y="2821514"/>
            <a:ext cx="664053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 err="1">
                <a:solidFill>
                  <a:schemeClr val="dk1"/>
                </a:solidFill>
                <a:latin typeface="+mj-ea"/>
                <a:ea typeface="+mj-ea"/>
              </a:rPr>
              <a:t>Seg_Sel</a:t>
            </a:r>
            <a:endParaRPr lang="en-US" altLang="ko-KR" sz="900" b="1" dirty="0">
              <a:solidFill>
                <a:schemeClr val="dk1"/>
              </a:solidFill>
              <a:latin typeface="+mj-ea"/>
              <a:ea typeface="+mj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A5016D29-D771-4AE2-BAA6-AF502015439F}"/>
              </a:ext>
            </a:extLst>
          </p:cNvPr>
          <p:cNvCxnSpPr>
            <a:cxnSpLocks/>
          </p:cNvCxnSpPr>
          <p:nvPr/>
        </p:nvCxnSpPr>
        <p:spPr>
          <a:xfrm flipH="1">
            <a:off x="6925243" y="3462643"/>
            <a:ext cx="11592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638F4607-7237-4D71-80B7-D5402D4FF6D3}"/>
              </a:ext>
            </a:extLst>
          </p:cNvPr>
          <p:cNvCxnSpPr>
            <a:cxnSpLocks/>
          </p:cNvCxnSpPr>
          <p:nvPr/>
        </p:nvCxnSpPr>
        <p:spPr>
          <a:xfrm flipH="1">
            <a:off x="10170162" y="4201931"/>
            <a:ext cx="3704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3">
            <a:extLst>
              <a:ext uri="{FF2B5EF4-FFF2-40B4-BE49-F238E27FC236}">
                <a16:creationId xmlns:a16="http://schemas.microsoft.com/office/drawing/2014/main" id="{6F4FAAEB-EE3C-49C2-9EDC-AD6F4B7655B9}"/>
              </a:ext>
            </a:extLst>
          </p:cNvPr>
          <p:cNvSpPr txBox="1"/>
          <p:nvPr/>
        </p:nvSpPr>
        <p:spPr>
          <a:xfrm>
            <a:off x="10495785" y="4034177"/>
            <a:ext cx="842164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 err="1">
                <a:solidFill>
                  <a:schemeClr val="dk1"/>
                </a:solidFill>
                <a:latin typeface="+mj-ea"/>
                <a:ea typeface="+mj-ea"/>
              </a:rPr>
              <a:t>FND_Comm</a:t>
            </a:r>
            <a:endParaRPr lang="en-US" altLang="ko-KR" sz="900" b="1" dirty="0">
              <a:solidFill>
                <a:schemeClr val="dk1"/>
              </a:solidFill>
              <a:latin typeface="+mj-ea"/>
              <a:ea typeface="+mj-ea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52666C81-5FD3-4844-AE63-DDA3A9E106A2}"/>
              </a:ext>
            </a:extLst>
          </p:cNvPr>
          <p:cNvCxnSpPr>
            <a:cxnSpLocks/>
          </p:cNvCxnSpPr>
          <p:nvPr/>
        </p:nvCxnSpPr>
        <p:spPr>
          <a:xfrm flipH="1">
            <a:off x="10339388" y="4525693"/>
            <a:ext cx="226340" cy="10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3">
            <a:extLst>
              <a:ext uri="{FF2B5EF4-FFF2-40B4-BE49-F238E27FC236}">
                <a16:creationId xmlns:a16="http://schemas.microsoft.com/office/drawing/2014/main" id="{A4733BAB-A3B5-4D13-90E9-1F77A4BB68BD}"/>
              </a:ext>
            </a:extLst>
          </p:cNvPr>
          <p:cNvSpPr txBox="1"/>
          <p:nvPr/>
        </p:nvSpPr>
        <p:spPr>
          <a:xfrm>
            <a:off x="10520934" y="4357939"/>
            <a:ext cx="853604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 err="1">
                <a:solidFill>
                  <a:schemeClr val="dk1"/>
                </a:solidFill>
                <a:latin typeface="+mj-ea"/>
                <a:ea typeface="+mj-ea"/>
              </a:rPr>
              <a:t>FND_Font</a:t>
            </a:r>
            <a:endParaRPr lang="en-US" altLang="ko-KR" sz="900" b="1" dirty="0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2DF4D44-2D02-4280-9AE9-D3691C8B2349}"/>
              </a:ext>
            </a:extLst>
          </p:cNvPr>
          <p:cNvSpPr/>
          <p:nvPr/>
        </p:nvSpPr>
        <p:spPr>
          <a:xfrm>
            <a:off x="8084538" y="3292415"/>
            <a:ext cx="873103" cy="877287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80" name="TextBox 3">
            <a:extLst>
              <a:ext uri="{FF2B5EF4-FFF2-40B4-BE49-F238E27FC236}">
                <a16:creationId xmlns:a16="http://schemas.microsoft.com/office/drawing/2014/main" id="{E17A3695-7FA2-4334-B3A8-F6A0AF670485}"/>
              </a:ext>
            </a:extLst>
          </p:cNvPr>
          <p:cNvSpPr txBox="1"/>
          <p:nvPr/>
        </p:nvSpPr>
        <p:spPr>
          <a:xfrm>
            <a:off x="8033550" y="3305129"/>
            <a:ext cx="664053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 err="1">
                <a:solidFill>
                  <a:schemeClr val="dk1"/>
                </a:solidFill>
                <a:latin typeface="+mj-ea"/>
                <a:ea typeface="+mj-ea"/>
              </a:rPr>
              <a:t>Seg_Sel</a:t>
            </a:r>
            <a:endParaRPr lang="en-US" altLang="ko-KR" sz="900" b="1" dirty="0">
              <a:solidFill>
                <a:schemeClr val="dk1"/>
              </a:solidFill>
              <a:latin typeface="+mj-ea"/>
              <a:ea typeface="+mj-ea"/>
            </a:endParaRP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CE31B222-6E1D-4BC9-9B50-CD900EA24FA6}"/>
              </a:ext>
            </a:extLst>
          </p:cNvPr>
          <p:cNvCxnSpPr>
            <a:cxnSpLocks/>
          </p:cNvCxnSpPr>
          <p:nvPr/>
        </p:nvCxnSpPr>
        <p:spPr>
          <a:xfrm flipH="1">
            <a:off x="6990677" y="2961352"/>
            <a:ext cx="20702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39351D89-03B5-448E-80C1-E301D54A5DC9}"/>
              </a:ext>
            </a:extLst>
          </p:cNvPr>
          <p:cNvCxnSpPr>
            <a:cxnSpLocks/>
          </p:cNvCxnSpPr>
          <p:nvPr/>
        </p:nvCxnSpPr>
        <p:spPr>
          <a:xfrm>
            <a:off x="6980326" y="2951127"/>
            <a:ext cx="0" cy="511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3">
            <a:extLst>
              <a:ext uri="{FF2B5EF4-FFF2-40B4-BE49-F238E27FC236}">
                <a16:creationId xmlns:a16="http://schemas.microsoft.com/office/drawing/2014/main" id="{1A362C9D-EE88-41C4-9B42-27CC774DDA71}"/>
              </a:ext>
            </a:extLst>
          </p:cNvPr>
          <p:cNvSpPr txBox="1"/>
          <p:nvPr/>
        </p:nvSpPr>
        <p:spPr>
          <a:xfrm>
            <a:off x="8404064" y="3511765"/>
            <a:ext cx="664053" cy="481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 err="1">
                <a:solidFill>
                  <a:schemeClr val="dk1"/>
                </a:solidFill>
                <a:latin typeface="+mj-ea"/>
                <a:ea typeface="+mj-ea"/>
              </a:rPr>
              <a:t>FND_Final_Data</a:t>
            </a:r>
            <a:endParaRPr lang="en-US" altLang="ko-KR" sz="900" b="1" dirty="0">
              <a:solidFill>
                <a:schemeClr val="dk1"/>
              </a:solidFill>
              <a:latin typeface="+mj-ea"/>
              <a:ea typeface="+mj-ea"/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9E6F49CA-2C5F-47C3-BBE7-C9782610D813}"/>
              </a:ext>
            </a:extLst>
          </p:cNvPr>
          <p:cNvCxnSpPr>
            <a:cxnSpLocks/>
          </p:cNvCxnSpPr>
          <p:nvPr/>
        </p:nvCxnSpPr>
        <p:spPr>
          <a:xfrm flipH="1">
            <a:off x="8988196" y="2547814"/>
            <a:ext cx="7625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FD66E84C-BDAC-40DF-9253-CAC022B5BA38}"/>
              </a:ext>
            </a:extLst>
          </p:cNvPr>
          <p:cNvCxnSpPr>
            <a:cxnSpLocks/>
          </p:cNvCxnSpPr>
          <p:nvPr/>
        </p:nvCxnSpPr>
        <p:spPr>
          <a:xfrm flipV="1">
            <a:off x="8997277" y="2547814"/>
            <a:ext cx="1" cy="11115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7E4D0700-7B6C-4F65-8F5C-5CDB198C40D9}"/>
              </a:ext>
            </a:extLst>
          </p:cNvPr>
          <p:cNvCxnSpPr>
            <a:cxnSpLocks/>
          </p:cNvCxnSpPr>
          <p:nvPr/>
        </p:nvCxnSpPr>
        <p:spPr>
          <a:xfrm flipH="1">
            <a:off x="9544587" y="2517410"/>
            <a:ext cx="738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1C25449D-C3F3-461F-A80B-F911C115C062}"/>
              </a:ext>
            </a:extLst>
          </p:cNvPr>
          <p:cNvCxnSpPr>
            <a:cxnSpLocks/>
          </p:cNvCxnSpPr>
          <p:nvPr/>
        </p:nvCxnSpPr>
        <p:spPr>
          <a:xfrm flipH="1">
            <a:off x="6871054" y="3305129"/>
            <a:ext cx="873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6B669E77-C6A6-43E9-A4F1-5BB20AE003B8}"/>
              </a:ext>
            </a:extLst>
          </p:cNvPr>
          <p:cNvCxnSpPr>
            <a:cxnSpLocks/>
          </p:cNvCxnSpPr>
          <p:nvPr/>
        </p:nvCxnSpPr>
        <p:spPr>
          <a:xfrm flipH="1">
            <a:off x="7748170" y="3803931"/>
            <a:ext cx="3195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59E26DE-A482-4D1F-A4EE-4BBCBC2C786C}"/>
              </a:ext>
            </a:extLst>
          </p:cNvPr>
          <p:cNvCxnSpPr>
            <a:cxnSpLocks/>
          </p:cNvCxnSpPr>
          <p:nvPr/>
        </p:nvCxnSpPr>
        <p:spPr>
          <a:xfrm>
            <a:off x="7752312" y="3292415"/>
            <a:ext cx="0" cy="511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A5A1C58A-2D1E-400F-AF58-A794EB272334}"/>
              </a:ext>
            </a:extLst>
          </p:cNvPr>
          <p:cNvCxnSpPr>
            <a:cxnSpLocks/>
          </p:cNvCxnSpPr>
          <p:nvPr/>
        </p:nvCxnSpPr>
        <p:spPr>
          <a:xfrm flipH="1">
            <a:off x="7752312" y="3724989"/>
            <a:ext cx="3195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607EDE7E-A655-40F2-95EA-677E7B7DF1B0}"/>
              </a:ext>
            </a:extLst>
          </p:cNvPr>
          <p:cNvCxnSpPr>
            <a:cxnSpLocks/>
          </p:cNvCxnSpPr>
          <p:nvPr/>
        </p:nvCxnSpPr>
        <p:spPr>
          <a:xfrm flipH="1">
            <a:off x="7752312" y="3660209"/>
            <a:ext cx="3195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9DA32F7E-840D-4ECF-A279-C098B1FF7802}"/>
              </a:ext>
            </a:extLst>
          </p:cNvPr>
          <p:cNvCxnSpPr>
            <a:cxnSpLocks/>
          </p:cNvCxnSpPr>
          <p:nvPr/>
        </p:nvCxnSpPr>
        <p:spPr>
          <a:xfrm flipH="1">
            <a:off x="7756454" y="3581267"/>
            <a:ext cx="3195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6A318E09-D72B-4DEC-9E84-455D7016F6C1}"/>
              </a:ext>
            </a:extLst>
          </p:cNvPr>
          <p:cNvCxnSpPr>
            <a:cxnSpLocks/>
          </p:cNvCxnSpPr>
          <p:nvPr/>
        </p:nvCxnSpPr>
        <p:spPr>
          <a:xfrm flipH="1">
            <a:off x="6850111" y="2447076"/>
            <a:ext cx="50953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A222FFE4-19DF-4D42-A66D-AA3B62D7F057}"/>
              </a:ext>
            </a:extLst>
          </p:cNvPr>
          <p:cNvCxnSpPr>
            <a:cxnSpLocks/>
          </p:cNvCxnSpPr>
          <p:nvPr/>
        </p:nvCxnSpPr>
        <p:spPr>
          <a:xfrm flipH="1" flipV="1">
            <a:off x="7368209" y="2439276"/>
            <a:ext cx="6974" cy="17850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FDEBCCD8-E281-4D6E-B6D7-66D9E623B16D}"/>
              </a:ext>
            </a:extLst>
          </p:cNvPr>
          <p:cNvCxnSpPr>
            <a:cxnSpLocks/>
          </p:cNvCxnSpPr>
          <p:nvPr/>
        </p:nvCxnSpPr>
        <p:spPr>
          <a:xfrm flipH="1">
            <a:off x="7375183" y="4224347"/>
            <a:ext cx="24828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이등변 삼각형 100">
            <a:extLst>
              <a:ext uri="{FF2B5EF4-FFF2-40B4-BE49-F238E27FC236}">
                <a16:creationId xmlns:a16="http://schemas.microsoft.com/office/drawing/2014/main" id="{7D863D47-C7C6-4E5C-AED6-8066FC83B6C8}"/>
              </a:ext>
            </a:extLst>
          </p:cNvPr>
          <p:cNvSpPr/>
          <p:nvPr/>
        </p:nvSpPr>
        <p:spPr>
          <a:xfrm rot="5400000">
            <a:off x="9854975" y="4116460"/>
            <a:ext cx="210457" cy="208251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8E4618F4-6FAB-47E9-B935-4E559DD40E99}"/>
              </a:ext>
            </a:extLst>
          </p:cNvPr>
          <p:cNvSpPr/>
          <p:nvPr/>
        </p:nvSpPr>
        <p:spPr>
          <a:xfrm>
            <a:off x="10077508" y="4169702"/>
            <a:ext cx="90365" cy="931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3D42BFF-8EE1-445E-9A33-660D460BC092}"/>
              </a:ext>
            </a:extLst>
          </p:cNvPr>
          <p:cNvCxnSpPr>
            <a:cxnSpLocks/>
          </p:cNvCxnSpPr>
          <p:nvPr/>
        </p:nvCxnSpPr>
        <p:spPr>
          <a:xfrm flipH="1">
            <a:off x="8957355" y="3666435"/>
            <a:ext cx="45028" cy="3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92053AD3-1317-43C2-A588-76C3B4A243F5}"/>
              </a:ext>
            </a:extLst>
          </p:cNvPr>
          <p:cNvCxnSpPr>
            <a:cxnSpLocks/>
          </p:cNvCxnSpPr>
          <p:nvPr/>
        </p:nvCxnSpPr>
        <p:spPr>
          <a:xfrm flipH="1">
            <a:off x="10310342" y="2858084"/>
            <a:ext cx="45028" cy="3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CA271C3A-CB36-4E3D-BDBD-A6DD225E86CE}"/>
              </a:ext>
            </a:extLst>
          </p:cNvPr>
          <p:cNvCxnSpPr>
            <a:cxnSpLocks/>
          </p:cNvCxnSpPr>
          <p:nvPr/>
        </p:nvCxnSpPr>
        <p:spPr>
          <a:xfrm flipV="1">
            <a:off x="10349278" y="2849339"/>
            <a:ext cx="0" cy="16763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타원 117">
            <a:extLst>
              <a:ext uri="{FF2B5EF4-FFF2-40B4-BE49-F238E27FC236}">
                <a16:creationId xmlns:a16="http://schemas.microsoft.com/office/drawing/2014/main" id="{B49E3D72-D4D0-45D4-A599-6EE601E29A31}"/>
              </a:ext>
            </a:extLst>
          </p:cNvPr>
          <p:cNvSpPr/>
          <p:nvPr/>
        </p:nvSpPr>
        <p:spPr>
          <a:xfrm>
            <a:off x="9034893" y="2628538"/>
            <a:ext cx="586149" cy="4810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TextBox 3">
            <a:extLst>
              <a:ext uri="{FF2B5EF4-FFF2-40B4-BE49-F238E27FC236}">
                <a16:creationId xmlns:a16="http://schemas.microsoft.com/office/drawing/2014/main" id="{017C127D-2F20-440B-9E9B-7BA19520A1BE}"/>
              </a:ext>
            </a:extLst>
          </p:cNvPr>
          <p:cNvSpPr txBox="1"/>
          <p:nvPr/>
        </p:nvSpPr>
        <p:spPr>
          <a:xfrm>
            <a:off x="8973433" y="1791579"/>
            <a:ext cx="2156772" cy="481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sz="900" b="1" dirty="0">
                <a:solidFill>
                  <a:srgbClr val="FF0000"/>
                </a:solidFill>
                <a:latin typeface="+mj-ea"/>
                <a:ea typeface="+mj-ea"/>
              </a:rPr>
              <a:t>→</a:t>
            </a:r>
            <a:r>
              <a:rPr lang="en-US" altLang="ko-KR" sz="900" b="1" dirty="0">
                <a:solidFill>
                  <a:srgbClr val="FF0000"/>
                </a:solidFill>
                <a:latin typeface="+mj-ea"/>
                <a:ea typeface="+mj-ea"/>
              </a:rPr>
              <a:t>FPR[</a:t>
            </a:r>
            <a:r>
              <a:rPr lang="en-US" altLang="ko-KR" sz="900" b="1" dirty="0" err="1">
                <a:solidFill>
                  <a:srgbClr val="FF0000"/>
                </a:solidFill>
                <a:latin typeface="+mj-ea"/>
                <a:ea typeface="+mj-ea"/>
              </a:rPr>
              <a:t>Seg_Sel</a:t>
            </a:r>
            <a:r>
              <a:rPr lang="en-US" altLang="ko-KR" sz="900" b="1" dirty="0">
                <a:solidFill>
                  <a:srgbClr val="FF0000"/>
                </a:solidFill>
                <a:latin typeface="+mj-ea"/>
                <a:ea typeface="+mj-ea"/>
              </a:rPr>
              <a:t>]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ko-KR" sz="900" b="1" dirty="0" err="1">
                <a:solidFill>
                  <a:srgbClr val="FF0000"/>
                </a:solidFill>
                <a:latin typeface="+mj-ea"/>
                <a:ea typeface="+mj-ea"/>
              </a:rPr>
              <a:t>Seg_value</a:t>
            </a:r>
            <a:r>
              <a:rPr lang="en-US" altLang="ko-KR" sz="900" b="1" dirty="0">
                <a:solidFill>
                  <a:srgbClr val="FF0000"/>
                </a:solidFill>
                <a:latin typeface="+mj-ea"/>
                <a:ea typeface="+mj-ea"/>
              </a:rPr>
              <a:t> = {1’b0, </a:t>
            </a:r>
            <a:r>
              <a:rPr lang="en-US" altLang="ko-KR" sz="900" b="1" dirty="0" err="1">
                <a:solidFill>
                  <a:srgbClr val="FF0000"/>
                </a:solidFill>
                <a:latin typeface="+mj-ea"/>
                <a:ea typeface="+mj-ea"/>
              </a:rPr>
              <a:t>bcdtoseg</a:t>
            </a:r>
            <a:r>
              <a:rPr lang="en-US" altLang="ko-KR" sz="900" b="1" dirty="0">
                <a:solidFill>
                  <a:srgbClr val="FF0000"/>
                </a:solidFill>
                <a:latin typeface="+mj-ea"/>
                <a:ea typeface="+mj-ea"/>
              </a:rPr>
              <a:t>[6:0]}</a:t>
            </a: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3DA65021-5BD2-484C-A987-9A19D948674B}"/>
              </a:ext>
            </a:extLst>
          </p:cNvPr>
          <p:cNvCxnSpPr>
            <a:cxnSpLocks/>
          </p:cNvCxnSpPr>
          <p:nvPr/>
        </p:nvCxnSpPr>
        <p:spPr>
          <a:xfrm>
            <a:off x="7058046" y="4776857"/>
            <a:ext cx="0" cy="801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02CE438E-EE22-47DB-9099-8EE4D12FB165}"/>
              </a:ext>
            </a:extLst>
          </p:cNvPr>
          <p:cNvCxnSpPr>
            <a:cxnSpLocks/>
          </p:cNvCxnSpPr>
          <p:nvPr/>
        </p:nvCxnSpPr>
        <p:spPr>
          <a:xfrm flipH="1">
            <a:off x="6857652" y="5584134"/>
            <a:ext cx="20989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89B72B82-FD37-4F7C-B822-4AF869C3BB2A}"/>
              </a:ext>
            </a:extLst>
          </p:cNvPr>
          <p:cNvCxnSpPr>
            <a:cxnSpLocks/>
          </p:cNvCxnSpPr>
          <p:nvPr/>
        </p:nvCxnSpPr>
        <p:spPr>
          <a:xfrm flipH="1" flipV="1">
            <a:off x="9553603" y="2513444"/>
            <a:ext cx="23221" cy="22674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C35789C4-CE07-4739-A12F-A5E545E3DADA}"/>
              </a:ext>
            </a:extLst>
          </p:cNvPr>
          <p:cNvCxnSpPr>
            <a:cxnSpLocks/>
          </p:cNvCxnSpPr>
          <p:nvPr/>
        </p:nvCxnSpPr>
        <p:spPr>
          <a:xfrm flipH="1">
            <a:off x="9445019" y="2543051"/>
            <a:ext cx="1065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71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 Block Diagram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412483" y="2961352"/>
            <a:ext cx="2526975" cy="235492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RISCV 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MCU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670688" y="1661319"/>
            <a:ext cx="835692" cy="49318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APB BUS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5395164" y="1624777"/>
            <a:ext cx="5959432" cy="4947533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 flipV="1">
            <a:off x="2939459" y="4127235"/>
            <a:ext cx="731229" cy="11580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flipV="1">
            <a:off x="4488722" y="2858084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 flipV="1">
            <a:off x="4488722" y="3691959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4488722" y="4473717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4488722" y="5303732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4488722" y="6176213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 flipV="1">
            <a:off x="4488722" y="2051232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5507300" y="1960168"/>
            <a:ext cx="1405142" cy="410117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0" name="TextBox 3"/>
          <p:cNvSpPr txBox="1"/>
          <p:nvPr/>
        </p:nvSpPr>
        <p:spPr>
          <a:xfrm>
            <a:off x="5386449" y="1495532"/>
            <a:ext cx="2106385" cy="548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APB Interface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5580325" y="2513277"/>
            <a:ext cx="1256975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569742" y="3300677"/>
            <a:ext cx="1256975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588792" y="4030927"/>
            <a:ext cx="1256975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6" name="TextBox 3"/>
          <p:cNvSpPr txBox="1"/>
          <p:nvPr/>
        </p:nvSpPr>
        <p:spPr>
          <a:xfrm>
            <a:off x="5549433" y="2498461"/>
            <a:ext cx="145021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solidFill>
                  <a:schemeClr val="dk1"/>
                </a:solidFill>
                <a:latin typeface="+mj-ea"/>
                <a:ea typeface="+mj-ea"/>
              </a:rPr>
              <a:t>[3:0] USR</a:t>
            </a:r>
          </a:p>
        </p:txBody>
      </p:sp>
      <p:sp>
        <p:nvSpPr>
          <p:cNvPr id="47" name="TextBox 3"/>
          <p:cNvSpPr txBox="1"/>
          <p:nvPr/>
        </p:nvSpPr>
        <p:spPr>
          <a:xfrm>
            <a:off x="5514725" y="3295313"/>
            <a:ext cx="1424299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latin typeface="+mj-ea"/>
                <a:ea typeface="+mj-ea"/>
              </a:rPr>
              <a:t>[7:0] UWD</a:t>
            </a:r>
          </a:p>
        </p:txBody>
      </p:sp>
      <p:sp>
        <p:nvSpPr>
          <p:cNvPr id="48" name="TextBox 3"/>
          <p:cNvSpPr txBox="1"/>
          <p:nvPr/>
        </p:nvSpPr>
        <p:spPr>
          <a:xfrm>
            <a:off x="5574833" y="4026694"/>
            <a:ext cx="145021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latin typeface="+mj-ea"/>
                <a:ea typeface="+mj-ea"/>
              </a:rPr>
              <a:t>[7:0] URD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47CA704-3129-4D88-AAC6-5533211F1B98}"/>
              </a:ext>
            </a:extLst>
          </p:cNvPr>
          <p:cNvSpPr/>
          <p:nvPr/>
        </p:nvSpPr>
        <p:spPr>
          <a:xfrm>
            <a:off x="9438411" y="2239933"/>
            <a:ext cx="1775965" cy="327937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0E9CDB6-22C2-47E6-9234-E5D3B61A67A1}"/>
              </a:ext>
            </a:extLst>
          </p:cNvPr>
          <p:cNvSpPr/>
          <p:nvPr/>
        </p:nvSpPr>
        <p:spPr>
          <a:xfrm>
            <a:off x="9599376" y="2317975"/>
            <a:ext cx="1454033" cy="149012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50" name="TextBox 3">
            <a:extLst>
              <a:ext uri="{FF2B5EF4-FFF2-40B4-BE49-F238E27FC236}">
                <a16:creationId xmlns:a16="http://schemas.microsoft.com/office/drawing/2014/main" id="{0516D5CD-13F6-40D5-8835-720BD8484406}"/>
              </a:ext>
            </a:extLst>
          </p:cNvPr>
          <p:cNvSpPr txBox="1"/>
          <p:nvPr/>
        </p:nvSpPr>
        <p:spPr>
          <a:xfrm>
            <a:off x="9542005" y="2855926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TX_DATA</a:t>
            </a:r>
          </a:p>
        </p:txBody>
      </p:sp>
      <p:sp>
        <p:nvSpPr>
          <p:cNvPr id="51" name="TextBox 3">
            <a:extLst>
              <a:ext uri="{FF2B5EF4-FFF2-40B4-BE49-F238E27FC236}">
                <a16:creationId xmlns:a16="http://schemas.microsoft.com/office/drawing/2014/main" id="{2E29A509-C34E-465C-BD62-079DB5CA1B4F}"/>
              </a:ext>
            </a:extLst>
          </p:cNvPr>
          <p:cNvSpPr txBox="1"/>
          <p:nvPr/>
        </p:nvSpPr>
        <p:spPr>
          <a:xfrm>
            <a:off x="10777364" y="3188967"/>
            <a:ext cx="516741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TX</a:t>
            </a:r>
          </a:p>
        </p:txBody>
      </p:sp>
      <p:sp>
        <p:nvSpPr>
          <p:cNvPr id="62" name="TextBox 3">
            <a:extLst>
              <a:ext uri="{FF2B5EF4-FFF2-40B4-BE49-F238E27FC236}">
                <a16:creationId xmlns:a16="http://schemas.microsoft.com/office/drawing/2014/main" id="{84FA0057-D87B-4B1F-8224-9E80AB7EF661}"/>
              </a:ext>
            </a:extLst>
          </p:cNvPr>
          <p:cNvSpPr txBox="1"/>
          <p:nvPr/>
        </p:nvSpPr>
        <p:spPr>
          <a:xfrm>
            <a:off x="9994095" y="1798737"/>
            <a:ext cx="1450220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UART</a:t>
            </a:r>
          </a:p>
        </p:txBody>
      </p:sp>
      <p:sp>
        <p:nvSpPr>
          <p:cNvPr id="66" name="TextBox 3">
            <a:extLst>
              <a:ext uri="{FF2B5EF4-FFF2-40B4-BE49-F238E27FC236}">
                <a16:creationId xmlns:a16="http://schemas.microsoft.com/office/drawing/2014/main" id="{0A9F836B-A581-47E3-AC5C-2DD5FC3A8A20}"/>
              </a:ext>
            </a:extLst>
          </p:cNvPr>
          <p:cNvSpPr txBox="1"/>
          <p:nvPr/>
        </p:nvSpPr>
        <p:spPr>
          <a:xfrm>
            <a:off x="10777223" y="4759416"/>
            <a:ext cx="516741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RX</a:t>
            </a:r>
          </a:p>
        </p:txBody>
      </p:sp>
      <p:sp>
        <p:nvSpPr>
          <p:cNvPr id="68" name="TextBox 3">
            <a:extLst>
              <a:ext uri="{FF2B5EF4-FFF2-40B4-BE49-F238E27FC236}">
                <a16:creationId xmlns:a16="http://schemas.microsoft.com/office/drawing/2014/main" id="{6A207AF7-D600-487B-AAF4-2FF51389E1D5}"/>
              </a:ext>
            </a:extLst>
          </p:cNvPr>
          <p:cNvSpPr txBox="1"/>
          <p:nvPr/>
        </p:nvSpPr>
        <p:spPr>
          <a:xfrm>
            <a:off x="9545242" y="3113481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TX_START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9DCA0952-4897-4939-99CB-BA898FB13D9E}"/>
              </a:ext>
            </a:extLst>
          </p:cNvPr>
          <p:cNvSpPr txBox="1"/>
          <p:nvPr/>
        </p:nvSpPr>
        <p:spPr>
          <a:xfrm>
            <a:off x="9535356" y="3369589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TX_DONE</a:t>
            </a:r>
          </a:p>
        </p:txBody>
      </p:sp>
      <p:sp>
        <p:nvSpPr>
          <p:cNvPr id="70" name="TextBox 3">
            <a:extLst>
              <a:ext uri="{FF2B5EF4-FFF2-40B4-BE49-F238E27FC236}">
                <a16:creationId xmlns:a16="http://schemas.microsoft.com/office/drawing/2014/main" id="{EBBB033B-DC99-473E-8DC8-E3CD4D1C3522}"/>
              </a:ext>
            </a:extLst>
          </p:cNvPr>
          <p:cNvSpPr txBox="1"/>
          <p:nvPr/>
        </p:nvSpPr>
        <p:spPr>
          <a:xfrm>
            <a:off x="9535399" y="4581397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RX_DATA</a:t>
            </a:r>
          </a:p>
        </p:txBody>
      </p:sp>
      <p:sp>
        <p:nvSpPr>
          <p:cNvPr id="71" name="TextBox 3">
            <a:extLst>
              <a:ext uri="{FF2B5EF4-FFF2-40B4-BE49-F238E27FC236}">
                <a16:creationId xmlns:a16="http://schemas.microsoft.com/office/drawing/2014/main" id="{A753F515-F2A6-4355-9367-2CA18B72AD45}"/>
              </a:ext>
            </a:extLst>
          </p:cNvPr>
          <p:cNvSpPr txBox="1"/>
          <p:nvPr/>
        </p:nvSpPr>
        <p:spPr>
          <a:xfrm>
            <a:off x="9538636" y="4838952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RX_DONE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6F0EF0BB-BD28-450F-A1F0-E1A7FD8AF787}"/>
              </a:ext>
            </a:extLst>
          </p:cNvPr>
          <p:cNvSpPr/>
          <p:nvPr/>
        </p:nvSpPr>
        <p:spPr>
          <a:xfrm>
            <a:off x="9599376" y="3918642"/>
            <a:ext cx="1454033" cy="149012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7388E53-EC77-4AEF-A2EF-A0C89B4FF4AE}"/>
              </a:ext>
            </a:extLst>
          </p:cNvPr>
          <p:cNvSpPr/>
          <p:nvPr/>
        </p:nvSpPr>
        <p:spPr>
          <a:xfrm>
            <a:off x="7569776" y="2317975"/>
            <a:ext cx="1454033" cy="149012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84" name="TextBox 3">
            <a:extLst>
              <a:ext uri="{FF2B5EF4-FFF2-40B4-BE49-F238E27FC236}">
                <a16:creationId xmlns:a16="http://schemas.microsoft.com/office/drawing/2014/main" id="{26CED727-EC6F-494C-996C-E0A7F1E5EF12}"/>
              </a:ext>
            </a:extLst>
          </p:cNvPr>
          <p:cNvSpPr txBox="1"/>
          <p:nvPr/>
        </p:nvSpPr>
        <p:spPr>
          <a:xfrm>
            <a:off x="7550505" y="2855926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WDATA</a:t>
            </a:r>
          </a:p>
        </p:txBody>
      </p:sp>
      <p:sp>
        <p:nvSpPr>
          <p:cNvPr id="87" name="TextBox 3">
            <a:extLst>
              <a:ext uri="{FF2B5EF4-FFF2-40B4-BE49-F238E27FC236}">
                <a16:creationId xmlns:a16="http://schemas.microsoft.com/office/drawing/2014/main" id="{638F9C4C-C624-4E30-9C66-F946213FF0CB}"/>
              </a:ext>
            </a:extLst>
          </p:cNvPr>
          <p:cNvSpPr txBox="1"/>
          <p:nvPr/>
        </p:nvSpPr>
        <p:spPr>
          <a:xfrm>
            <a:off x="7553742" y="3113481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FULL</a:t>
            </a:r>
          </a:p>
        </p:txBody>
      </p:sp>
      <p:sp>
        <p:nvSpPr>
          <p:cNvPr id="88" name="TextBox 3">
            <a:extLst>
              <a:ext uri="{FF2B5EF4-FFF2-40B4-BE49-F238E27FC236}">
                <a16:creationId xmlns:a16="http://schemas.microsoft.com/office/drawing/2014/main" id="{8D6BD5E3-48B6-46CA-841B-EAE0CAC557AD}"/>
              </a:ext>
            </a:extLst>
          </p:cNvPr>
          <p:cNvSpPr txBox="1"/>
          <p:nvPr/>
        </p:nvSpPr>
        <p:spPr>
          <a:xfrm>
            <a:off x="7543856" y="3369589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WE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4E009961-82AE-40C6-9402-C17BFCE33304}"/>
              </a:ext>
            </a:extLst>
          </p:cNvPr>
          <p:cNvSpPr/>
          <p:nvPr/>
        </p:nvSpPr>
        <p:spPr>
          <a:xfrm>
            <a:off x="7569776" y="3918642"/>
            <a:ext cx="1454033" cy="149012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92" name="TextBox 3">
            <a:extLst>
              <a:ext uri="{FF2B5EF4-FFF2-40B4-BE49-F238E27FC236}">
                <a16:creationId xmlns:a16="http://schemas.microsoft.com/office/drawing/2014/main" id="{0DF4BA02-8978-43B2-BD68-378D0A9F1DD4}"/>
              </a:ext>
            </a:extLst>
          </p:cNvPr>
          <p:cNvSpPr txBox="1"/>
          <p:nvPr/>
        </p:nvSpPr>
        <p:spPr>
          <a:xfrm>
            <a:off x="7537805" y="4455494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RDATA</a:t>
            </a:r>
          </a:p>
        </p:txBody>
      </p:sp>
      <p:sp>
        <p:nvSpPr>
          <p:cNvPr id="93" name="TextBox 3">
            <a:extLst>
              <a:ext uri="{FF2B5EF4-FFF2-40B4-BE49-F238E27FC236}">
                <a16:creationId xmlns:a16="http://schemas.microsoft.com/office/drawing/2014/main" id="{F0E404A8-C379-4921-A35B-88D13F4CE549}"/>
              </a:ext>
            </a:extLst>
          </p:cNvPr>
          <p:cNvSpPr txBox="1"/>
          <p:nvPr/>
        </p:nvSpPr>
        <p:spPr>
          <a:xfrm>
            <a:off x="7541042" y="4713049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EMPTY</a:t>
            </a:r>
          </a:p>
        </p:txBody>
      </p:sp>
      <p:sp>
        <p:nvSpPr>
          <p:cNvPr id="94" name="TextBox 3">
            <a:extLst>
              <a:ext uri="{FF2B5EF4-FFF2-40B4-BE49-F238E27FC236}">
                <a16:creationId xmlns:a16="http://schemas.microsoft.com/office/drawing/2014/main" id="{23E78713-D720-469B-9CB6-B7E44CDA28FB}"/>
              </a:ext>
            </a:extLst>
          </p:cNvPr>
          <p:cNvSpPr txBox="1"/>
          <p:nvPr/>
        </p:nvSpPr>
        <p:spPr>
          <a:xfrm>
            <a:off x="7531156" y="4969157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RE</a:t>
            </a:r>
          </a:p>
        </p:txBody>
      </p:sp>
      <p:sp>
        <p:nvSpPr>
          <p:cNvPr id="95" name="TextBox 3">
            <a:extLst>
              <a:ext uri="{FF2B5EF4-FFF2-40B4-BE49-F238E27FC236}">
                <a16:creationId xmlns:a16="http://schemas.microsoft.com/office/drawing/2014/main" id="{F95156C4-0E8B-4173-BB3C-5D8FA23DEC44}"/>
              </a:ext>
            </a:extLst>
          </p:cNvPr>
          <p:cNvSpPr txBox="1"/>
          <p:nvPr/>
        </p:nvSpPr>
        <p:spPr>
          <a:xfrm>
            <a:off x="8516180" y="2862908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RDATA</a:t>
            </a:r>
          </a:p>
        </p:txBody>
      </p:sp>
      <p:sp>
        <p:nvSpPr>
          <p:cNvPr id="96" name="TextBox 3">
            <a:extLst>
              <a:ext uri="{FF2B5EF4-FFF2-40B4-BE49-F238E27FC236}">
                <a16:creationId xmlns:a16="http://schemas.microsoft.com/office/drawing/2014/main" id="{998711FF-D6C7-4C50-82C6-33D7886CD77E}"/>
              </a:ext>
            </a:extLst>
          </p:cNvPr>
          <p:cNvSpPr txBox="1"/>
          <p:nvPr/>
        </p:nvSpPr>
        <p:spPr>
          <a:xfrm>
            <a:off x="8519417" y="3120463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EMPTY</a:t>
            </a:r>
          </a:p>
        </p:txBody>
      </p:sp>
      <p:sp>
        <p:nvSpPr>
          <p:cNvPr id="97" name="TextBox 3">
            <a:extLst>
              <a:ext uri="{FF2B5EF4-FFF2-40B4-BE49-F238E27FC236}">
                <a16:creationId xmlns:a16="http://schemas.microsoft.com/office/drawing/2014/main" id="{E3AD6C06-4D15-40B4-901E-416187FA3DBE}"/>
              </a:ext>
            </a:extLst>
          </p:cNvPr>
          <p:cNvSpPr txBox="1"/>
          <p:nvPr/>
        </p:nvSpPr>
        <p:spPr>
          <a:xfrm>
            <a:off x="8509531" y="3376571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RE</a:t>
            </a:r>
          </a:p>
        </p:txBody>
      </p:sp>
      <p:sp>
        <p:nvSpPr>
          <p:cNvPr id="98" name="TextBox 3">
            <a:extLst>
              <a:ext uri="{FF2B5EF4-FFF2-40B4-BE49-F238E27FC236}">
                <a16:creationId xmlns:a16="http://schemas.microsoft.com/office/drawing/2014/main" id="{A5915F0E-477B-427C-9F41-31F7A63D64EE}"/>
              </a:ext>
            </a:extLst>
          </p:cNvPr>
          <p:cNvSpPr txBox="1"/>
          <p:nvPr/>
        </p:nvSpPr>
        <p:spPr>
          <a:xfrm>
            <a:off x="8445725" y="4474746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WDATA</a:t>
            </a:r>
          </a:p>
        </p:txBody>
      </p:sp>
      <p:sp>
        <p:nvSpPr>
          <p:cNvPr id="99" name="TextBox 3">
            <a:extLst>
              <a:ext uri="{FF2B5EF4-FFF2-40B4-BE49-F238E27FC236}">
                <a16:creationId xmlns:a16="http://schemas.microsoft.com/office/drawing/2014/main" id="{124C7451-1D28-474E-AAA9-F986E599957F}"/>
              </a:ext>
            </a:extLst>
          </p:cNvPr>
          <p:cNvSpPr txBox="1"/>
          <p:nvPr/>
        </p:nvSpPr>
        <p:spPr>
          <a:xfrm>
            <a:off x="8448962" y="4732301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FULL</a:t>
            </a:r>
          </a:p>
        </p:txBody>
      </p:sp>
      <p:sp>
        <p:nvSpPr>
          <p:cNvPr id="100" name="TextBox 3">
            <a:extLst>
              <a:ext uri="{FF2B5EF4-FFF2-40B4-BE49-F238E27FC236}">
                <a16:creationId xmlns:a16="http://schemas.microsoft.com/office/drawing/2014/main" id="{F8FCF589-4E6A-49DF-BBB8-1695CEB809AC}"/>
              </a:ext>
            </a:extLst>
          </p:cNvPr>
          <p:cNvSpPr txBox="1"/>
          <p:nvPr/>
        </p:nvSpPr>
        <p:spPr>
          <a:xfrm>
            <a:off x="8439076" y="4988409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WE</a:t>
            </a: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BF8BC661-4E71-42A0-B417-F2027397F06A}"/>
              </a:ext>
            </a:extLst>
          </p:cNvPr>
          <p:cNvCxnSpPr>
            <a:cxnSpLocks/>
          </p:cNvCxnSpPr>
          <p:nvPr/>
        </p:nvCxnSpPr>
        <p:spPr>
          <a:xfrm flipV="1">
            <a:off x="9031576" y="3002606"/>
            <a:ext cx="567800" cy="7316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5971F991-C372-40C3-BABB-534D3BF3A8F9}"/>
              </a:ext>
            </a:extLst>
          </p:cNvPr>
          <p:cNvCxnSpPr>
            <a:cxnSpLocks/>
          </p:cNvCxnSpPr>
          <p:nvPr/>
        </p:nvCxnSpPr>
        <p:spPr>
          <a:xfrm flipV="1">
            <a:off x="9023809" y="3281433"/>
            <a:ext cx="567800" cy="7316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B6B56EE3-358A-47BA-930E-2457A5362673}"/>
              </a:ext>
            </a:extLst>
          </p:cNvPr>
          <p:cNvCxnSpPr>
            <a:cxnSpLocks/>
          </p:cNvCxnSpPr>
          <p:nvPr/>
        </p:nvCxnSpPr>
        <p:spPr>
          <a:xfrm rot="10800000">
            <a:off x="9023810" y="4648045"/>
            <a:ext cx="583333" cy="10057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368CD4F6-57B7-476E-A5C1-49445C2EC1C1}"/>
              </a:ext>
            </a:extLst>
          </p:cNvPr>
          <p:cNvCxnSpPr>
            <a:cxnSpLocks/>
          </p:cNvCxnSpPr>
          <p:nvPr/>
        </p:nvCxnSpPr>
        <p:spPr>
          <a:xfrm rot="10800000" flipV="1">
            <a:off x="9027046" y="5002945"/>
            <a:ext cx="580098" cy="155884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3">
            <a:extLst>
              <a:ext uri="{FF2B5EF4-FFF2-40B4-BE49-F238E27FC236}">
                <a16:creationId xmlns:a16="http://schemas.microsoft.com/office/drawing/2014/main" id="{10A1161E-E6B0-4EE3-A3D5-163D3AA037B5}"/>
              </a:ext>
            </a:extLst>
          </p:cNvPr>
          <p:cNvSpPr txBox="1"/>
          <p:nvPr/>
        </p:nvSpPr>
        <p:spPr>
          <a:xfrm>
            <a:off x="7928966" y="1799839"/>
            <a:ext cx="757834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FIFO</a:t>
            </a:r>
          </a:p>
        </p:txBody>
      </p:sp>
      <p:sp>
        <p:nvSpPr>
          <p:cNvPr id="10" name="순서도: 지연 9">
            <a:extLst>
              <a:ext uri="{FF2B5EF4-FFF2-40B4-BE49-F238E27FC236}">
                <a16:creationId xmlns:a16="http://schemas.microsoft.com/office/drawing/2014/main" id="{B9225150-ECA2-4DBA-AA0E-7A955AB8D9E5}"/>
              </a:ext>
            </a:extLst>
          </p:cNvPr>
          <p:cNvSpPr/>
          <p:nvPr/>
        </p:nvSpPr>
        <p:spPr>
          <a:xfrm flipH="1">
            <a:off x="9236643" y="3400632"/>
            <a:ext cx="168186" cy="249219"/>
          </a:xfrm>
          <a:prstGeom prst="flowChartDelay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35178B61-520F-4192-90AF-553DE7939DB6}"/>
              </a:ext>
            </a:extLst>
          </p:cNvPr>
          <p:cNvCxnSpPr>
            <a:cxnSpLocks/>
          </p:cNvCxnSpPr>
          <p:nvPr/>
        </p:nvCxnSpPr>
        <p:spPr>
          <a:xfrm rot="10800000">
            <a:off x="9019927" y="3522989"/>
            <a:ext cx="223937" cy="8923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69A071DB-BF5E-4E33-A340-C1F8990C29B4}"/>
              </a:ext>
            </a:extLst>
          </p:cNvPr>
          <p:cNvCxnSpPr>
            <a:cxnSpLocks/>
          </p:cNvCxnSpPr>
          <p:nvPr/>
        </p:nvCxnSpPr>
        <p:spPr>
          <a:xfrm flipH="1">
            <a:off x="9478941" y="3288749"/>
            <a:ext cx="1" cy="2174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204F6467-1D7C-4FF6-83C2-73883A5B0CA8}"/>
              </a:ext>
            </a:extLst>
          </p:cNvPr>
          <p:cNvCxnSpPr>
            <a:cxnSpLocks/>
          </p:cNvCxnSpPr>
          <p:nvPr/>
        </p:nvCxnSpPr>
        <p:spPr>
          <a:xfrm flipH="1">
            <a:off x="9404829" y="3506229"/>
            <a:ext cx="821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FDB21D7B-3856-4B30-831B-36B3D5F5797F}"/>
              </a:ext>
            </a:extLst>
          </p:cNvPr>
          <p:cNvCxnSpPr>
            <a:cxnSpLocks/>
          </p:cNvCxnSpPr>
          <p:nvPr/>
        </p:nvCxnSpPr>
        <p:spPr>
          <a:xfrm flipH="1">
            <a:off x="9394272" y="3556427"/>
            <a:ext cx="174730" cy="18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타원 115">
            <a:extLst>
              <a:ext uri="{FF2B5EF4-FFF2-40B4-BE49-F238E27FC236}">
                <a16:creationId xmlns:a16="http://schemas.microsoft.com/office/drawing/2014/main" id="{41866A52-20ED-42D7-A871-3DD47FB60ABF}"/>
              </a:ext>
            </a:extLst>
          </p:cNvPr>
          <p:cNvSpPr/>
          <p:nvPr/>
        </p:nvSpPr>
        <p:spPr>
          <a:xfrm>
            <a:off x="9554964" y="3538988"/>
            <a:ext cx="45719" cy="45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사다리꼴 116">
            <a:extLst>
              <a:ext uri="{FF2B5EF4-FFF2-40B4-BE49-F238E27FC236}">
                <a16:creationId xmlns:a16="http://schemas.microsoft.com/office/drawing/2014/main" id="{B8E6C1FA-4335-4BA9-9343-87BAF4CCCA0D}"/>
              </a:ext>
            </a:extLst>
          </p:cNvPr>
          <p:cNvSpPr/>
          <p:nvPr/>
        </p:nvSpPr>
        <p:spPr>
          <a:xfrm rot="5400000">
            <a:off x="6794620" y="2360819"/>
            <a:ext cx="898407" cy="347332"/>
          </a:xfrm>
          <a:prstGeom prst="trapezoid">
            <a:avLst>
              <a:gd name="adj" fmla="val 6522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사다리꼴 117">
            <a:extLst>
              <a:ext uri="{FF2B5EF4-FFF2-40B4-BE49-F238E27FC236}">
                <a16:creationId xmlns:a16="http://schemas.microsoft.com/office/drawing/2014/main" id="{655E61A7-CA65-46FC-9A8D-0035EC9F5D08}"/>
              </a:ext>
            </a:extLst>
          </p:cNvPr>
          <p:cNvSpPr/>
          <p:nvPr/>
        </p:nvSpPr>
        <p:spPr>
          <a:xfrm rot="5400000">
            <a:off x="6795251" y="3478572"/>
            <a:ext cx="898407" cy="347332"/>
          </a:xfrm>
          <a:prstGeom prst="trapezoid">
            <a:avLst>
              <a:gd name="adj" fmla="val 6522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사다리꼴 118">
            <a:extLst>
              <a:ext uri="{FF2B5EF4-FFF2-40B4-BE49-F238E27FC236}">
                <a16:creationId xmlns:a16="http://schemas.microsoft.com/office/drawing/2014/main" id="{A7716B2E-6DDB-43A6-9C26-404A246E89D0}"/>
              </a:ext>
            </a:extLst>
          </p:cNvPr>
          <p:cNvSpPr/>
          <p:nvPr/>
        </p:nvSpPr>
        <p:spPr>
          <a:xfrm rot="16200000" flipH="1">
            <a:off x="6795250" y="4596325"/>
            <a:ext cx="898407" cy="347332"/>
          </a:xfrm>
          <a:prstGeom prst="trapezoid">
            <a:avLst>
              <a:gd name="adj" fmla="val 6522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8A87B3F-6ABD-4BB6-8C4F-1F468C6E8BA1}"/>
              </a:ext>
            </a:extLst>
          </p:cNvPr>
          <p:cNvCxnSpPr>
            <a:cxnSpLocks/>
          </p:cNvCxnSpPr>
          <p:nvPr/>
        </p:nvCxnSpPr>
        <p:spPr>
          <a:xfrm flipH="1">
            <a:off x="7502523" y="2534485"/>
            <a:ext cx="5117" cy="10219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BCE0549E-A9CD-4BE7-891A-D33F97F92472}"/>
              </a:ext>
            </a:extLst>
          </p:cNvPr>
          <p:cNvCxnSpPr>
            <a:cxnSpLocks/>
          </p:cNvCxnSpPr>
          <p:nvPr/>
        </p:nvCxnSpPr>
        <p:spPr>
          <a:xfrm flipH="1">
            <a:off x="7411028" y="2538801"/>
            <a:ext cx="1046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5851B45D-439A-462F-814A-BBF8E84C27B1}"/>
              </a:ext>
            </a:extLst>
          </p:cNvPr>
          <p:cNvCxnSpPr>
            <a:cxnSpLocks/>
          </p:cNvCxnSpPr>
          <p:nvPr/>
        </p:nvCxnSpPr>
        <p:spPr>
          <a:xfrm flipH="1">
            <a:off x="7492834" y="3556509"/>
            <a:ext cx="9027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5D32D634-A539-40CF-924D-D9516C3B2682}"/>
              </a:ext>
            </a:extLst>
          </p:cNvPr>
          <p:cNvCxnSpPr>
            <a:cxnSpLocks/>
          </p:cNvCxnSpPr>
          <p:nvPr/>
        </p:nvCxnSpPr>
        <p:spPr>
          <a:xfrm flipH="1">
            <a:off x="7466517" y="2989941"/>
            <a:ext cx="5738" cy="7246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15C5BB63-4491-4BCC-A3D3-F160531886FA}"/>
              </a:ext>
            </a:extLst>
          </p:cNvPr>
          <p:cNvCxnSpPr>
            <a:cxnSpLocks/>
          </p:cNvCxnSpPr>
          <p:nvPr/>
        </p:nvCxnSpPr>
        <p:spPr>
          <a:xfrm flipH="1">
            <a:off x="7419148" y="3707412"/>
            <a:ext cx="523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8113A2A4-4090-4FB3-B305-498D0469E792}"/>
              </a:ext>
            </a:extLst>
          </p:cNvPr>
          <p:cNvCxnSpPr>
            <a:cxnSpLocks/>
          </p:cNvCxnSpPr>
          <p:nvPr/>
        </p:nvCxnSpPr>
        <p:spPr>
          <a:xfrm flipH="1">
            <a:off x="7463335" y="2999548"/>
            <a:ext cx="1102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B117F9DA-1A7D-40B2-87B2-AEEC499D45B7}"/>
              </a:ext>
            </a:extLst>
          </p:cNvPr>
          <p:cNvCxnSpPr>
            <a:cxnSpLocks/>
          </p:cNvCxnSpPr>
          <p:nvPr/>
        </p:nvCxnSpPr>
        <p:spPr>
          <a:xfrm flipH="1">
            <a:off x="6972744" y="2534485"/>
            <a:ext cx="104614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AC4C8B77-A733-4D8B-9CE6-E82E80BAADEC}"/>
              </a:ext>
            </a:extLst>
          </p:cNvPr>
          <p:cNvCxnSpPr>
            <a:cxnSpLocks/>
          </p:cNvCxnSpPr>
          <p:nvPr/>
        </p:nvCxnSpPr>
        <p:spPr>
          <a:xfrm flipH="1">
            <a:off x="6973807" y="2527342"/>
            <a:ext cx="5552" cy="578996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BA576DFD-7C0B-47C4-BFB0-B1B5E5CF8147}"/>
              </a:ext>
            </a:extLst>
          </p:cNvPr>
          <p:cNvCxnSpPr>
            <a:cxnSpLocks/>
          </p:cNvCxnSpPr>
          <p:nvPr/>
        </p:nvCxnSpPr>
        <p:spPr>
          <a:xfrm flipH="1">
            <a:off x="6964705" y="3099988"/>
            <a:ext cx="367164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F9E65C12-BE55-4508-AD1E-556A5EC55682}"/>
              </a:ext>
            </a:extLst>
          </p:cNvPr>
          <p:cNvCxnSpPr>
            <a:cxnSpLocks/>
          </p:cNvCxnSpPr>
          <p:nvPr/>
        </p:nvCxnSpPr>
        <p:spPr>
          <a:xfrm>
            <a:off x="7337431" y="3095178"/>
            <a:ext cx="1715" cy="19357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1EBCC130-F1A7-4811-9A5D-5E62B4FC8795}"/>
              </a:ext>
            </a:extLst>
          </p:cNvPr>
          <p:cNvCxnSpPr>
            <a:cxnSpLocks/>
          </p:cNvCxnSpPr>
          <p:nvPr/>
        </p:nvCxnSpPr>
        <p:spPr>
          <a:xfrm flipH="1">
            <a:off x="7331869" y="3292604"/>
            <a:ext cx="247077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CE5C0147-4DE7-4846-916C-63B4FE4E36E1}"/>
              </a:ext>
            </a:extLst>
          </p:cNvPr>
          <p:cNvCxnSpPr>
            <a:cxnSpLocks/>
          </p:cNvCxnSpPr>
          <p:nvPr/>
        </p:nvCxnSpPr>
        <p:spPr>
          <a:xfrm flipH="1">
            <a:off x="7532195" y="3290117"/>
            <a:ext cx="5966" cy="12691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17F02FC8-4E04-4654-B00C-B720C7330A08}"/>
              </a:ext>
            </a:extLst>
          </p:cNvPr>
          <p:cNvCxnSpPr>
            <a:cxnSpLocks/>
          </p:cNvCxnSpPr>
          <p:nvPr/>
        </p:nvCxnSpPr>
        <p:spPr>
          <a:xfrm flipH="1">
            <a:off x="7417619" y="4559307"/>
            <a:ext cx="1230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EDCFEA8D-87A4-40EA-BB12-3BAFEF998001}"/>
              </a:ext>
            </a:extLst>
          </p:cNvPr>
          <p:cNvCxnSpPr>
            <a:cxnSpLocks/>
          </p:cNvCxnSpPr>
          <p:nvPr/>
        </p:nvCxnSpPr>
        <p:spPr>
          <a:xfrm flipH="1">
            <a:off x="7425221" y="4870607"/>
            <a:ext cx="1517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D363C31A-A6FF-4CD0-86AE-591373388C97}"/>
              </a:ext>
            </a:extLst>
          </p:cNvPr>
          <p:cNvCxnSpPr>
            <a:cxnSpLocks/>
          </p:cNvCxnSpPr>
          <p:nvPr/>
        </p:nvCxnSpPr>
        <p:spPr>
          <a:xfrm flipH="1">
            <a:off x="6972580" y="4731879"/>
            <a:ext cx="1046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3DDD8C06-82A3-46D9-9AE5-545A7918D1C0}"/>
              </a:ext>
            </a:extLst>
          </p:cNvPr>
          <p:cNvCxnSpPr>
            <a:cxnSpLocks/>
          </p:cNvCxnSpPr>
          <p:nvPr/>
        </p:nvCxnSpPr>
        <p:spPr>
          <a:xfrm flipH="1">
            <a:off x="6973643" y="4724736"/>
            <a:ext cx="5552" cy="5789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D7773A02-8327-47D0-B2D1-2C1C6F49E716}"/>
              </a:ext>
            </a:extLst>
          </p:cNvPr>
          <p:cNvCxnSpPr>
            <a:cxnSpLocks/>
          </p:cNvCxnSpPr>
          <p:nvPr/>
        </p:nvCxnSpPr>
        <p:spPr>
          <a:xfrm flipH="1" flipV="1">
            <a:off x="6964541" y="5303732"/>
            <a:ext cx="551101" cy="111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BABC068C-7B42-4F12-BF84-C4EFDB867F84}"/>
              </a:ext>
            </a:extLst>
          </p:cNvPr>
          <p:cNvCxnSpPr>
            <a:cxnSpLocks/>
          </p:cNvCxnSpPr>
          <p:nvPr/>
        </p:nvCxnSpPr>
        <p:spPr>
          <a:xfrm flipH="1">
            <a:off x="7506041" y="5131400"/>
            <a:ext cx="523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4E3C9527-CBF8-4415-B591-6092765483B0}"/>
              </a:ext>
            </a:extLst>
          </p:cNvPr>
          <p:cNvCxnSpPr>
            <a:cxnSpLocks/>
          </p:cNvCxnSpPr>
          <p:nvPr/>
        </p:nvCxnSpPr>
        <p:spPr>
          <a:xfrm>
            <a:off x="7507640" y="5121704"/>
            <a:ext cx="0" cy="1945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9F8A3036-0388-42D6-B663-2FF8B6F8E9E9}"/>
              </a:ext>
            </a:extLst>
          </p:cNvPr>
          <p:cNvCxnSpPr>
            <a:cxnSpLocks/>
          </p:cNvCxnSpPr>
          <p:nvPr/>
        </p:nvCxnSpPr>
        <p:spPr>
          <a:xfrm flipH="1">
            <a:off x="6958045" y="3612208"/>
            <a:ext cx="1046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3DB420C4-4746-44B4-BD63-C98AA4EEA95B}"/>
              </a:ext>
            </a:extLst>
          </p:cNvPr>
          <p:cNvCxnSpPr>
            <a:cxnSpLocks/>
          </p:cNvCxnSpPr>
          <p:nvPr/>
        </p:nvCxnSpPr>
        <p:spPr>
          <a:xfrm flipH="1">
            <a:off x="6959108" y="3605065"/>
            <a:ext cx="5552" cy="5789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DECFAAB3-B9C4-4EAF-814A-8F455A956093}"/>
              </a:ext>
            </a:extLst>
          </p:cNvPr>
          <p:cNvCxnSpPr>
            <a:cxnSpLocks/>
          </p:cNvCxnSpPr>
          <p:nvPr/>
        </p:nvCxnSpPr>
        <p:spPr>
          <a:xfrm flipH="1" flipV="1">
            <a:off x="6950006" y="4184061"/>
            <a:ext cx="551101" cy="111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E9ABDCA-CAA7-443F-9663-EC32470485EF}"/>
              </a:ext>
            </a:extLst>
          </p:cNvPr>
          <p:cNvCxnSpPr>
            <a:cxnSpLocks/>
          </p:cNvCxnSpPr>
          <p:nvPr/>
        </p:nvCxnSpPr>
        <p:spPr>
          <a:xfrm>
            <a:off x="7493677" y="4194715"/>
            <a:ext cx="0" cy="431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5B173FD6-583A-4813-89F8-1CE6C26651F5}"/>
              </a:ext>
            </a:extLst>
          </p:cNvPr>
          <p:cNvCxnSpPr>
            <a:cxnSpLocks/>
          </p:cNvCxnSpPr>
          <p:nvPr/>
        </p:nvCxnSpPr>
        <p:spPr>
          <a:xfrm flipH="1">
            <a:off x="7484148" y="4626117"/>
            <a:ext cx="856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연결선 201">
            <a:extLst>
              <a:ext uri="{FF2B5EF4-FFF2-40B4-BE49-F238E27FC236}">
                <a16:creationId xmlns:a16="http://schemas.microsoft.com/office/drawing/2014/main" id="{498ED103-B988-428D-A7DD-6BDD59FE071B}"/>
              </a:ext>
            </a:extLst>
          </p:cNvPr>
          <p:cNvCxnSpPr>
            <a:stCxn id="118" idx="3"/>
            <a:endCxn id="119" idx="1"/>
          </p:cNvCxnSpPr>
          <p:nvPr/>
        </p:nvCxnSpPr>
        <p:spPr>
          <a:xfrm flipH="1">
            <a:off x="7244454" y="3988175"/>
            <a:ext cx="1" cy="4458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CAEA9A3E-E8CB-40FA-A413-9420042F14F5}"/>
              </a:ext>
            </a:extLst>
          </p:cNvPr>
          <p:cNvCxnSpPr>
            <a:cxnSpLocks/>
          </p:cNvCxnSpPr>
          <p:nvPr/>
        </p:nvCxnSpPr>
        <p:spPr>
          <a:xfrm>
            <a:off x="7286532" y="2025832"/>
            <a:ext cx="1715" cy="1935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59E6DAB7-89D8-47FA-B139-909678533DDA}"/>
              </a:ext>
            </a:extLst>
          </p:cNvPr>
          <p:cNvSpPr/>
          <p:nvPr/>
        </p:nvSpPr>
        <p:spPr>
          <a:xfrm>
            <a:off x="7178824" y="1741932"/>
            <a:ext cx="332792" cy="2977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8AE71BEB-BE0C-4E80-AFB9-05C3EE230868}"/>
              </a:ext>
            </a:extLst>
          </p:cNvPr>
          <p:cNvCxnSpPr>
            <a:cxnSpLocks/>
          </p:cNvCxnSpPr>
          <p:nvPr/>
        </p:nvCxnSpPr>
        <p:spPr>
          <a:xfrm flipH="1">
            <a:off x="6950006" y="2334685"/>
            <a:ext cx="112653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30D4B3E7-DCC1-4D84-9098-866CFE66C9A1}"/>
              </a:ext>
            </a:extLst>
          </p:cNvPr>
          <p:cNvCxnSpPr>
            <a:cxnSpLocks/>
          </p:cNvCxnSpPr>
          <p:nvPr/>
        </p:nvCxnSpPr>
        <p:spPr>
          <a:xfrm flipH="1">
            <a:off x="6936180" y="2323972"/>
            <a:ext cx="5966" cy="317629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971E723D-4729-42AC-8664-AEA6325828FC}"/>
              </a:ext>
            </a:extLst>
          </p:cNvPr>
          <p:cNvCxnSpPr>
            <a:cxnSpLocks/>
          </p:cNvCxnSpPr>
          <p:nvPr/>
        </p:nvCxnSpPr>
        <p:spPr>
          <a:xfrm flipH="1" flipV="1">
            <a:off x="6927975" y="5497018"/>
            <a:ext cx="551101" cy="1117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153F3C8B-54AD-4B81-89ED-F95792DDE77C}"/>
              </a:ext>
            </a:extLst>
          </p:cNvPr>
          <p:cNvCxnSpPr>
            <a:cxnSpLocks/>
          </p:cNvCxnSpPr>
          <p:nvPr/>
        </p:nvCxnSpPr>
        <p:spPr>
          <a:xfrm>
            <a:off x="7474314" y="4875924"/>
            <a:ext cx="0" cy="641004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CC5F547D-9122-4B6B-8823-32EB9225B031}"/>
              </a:ext>
            </a:extLst>
          </p:cNvPr>
          <p:cNvCxnSpPr>
            <a:cxnSpLocks/>
          </p:cNvCxnSpPr>
          <p:nvPr/>
        </p:nvCxnSpPr>
        <p:spPr>
          <a:xfrm flipH="1">
            <a:off x="6831301" y="3456001"/>
            <a:ext cx="2388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타원 219">
            <a:extLst>
              <a:ext uri="{FF2B5EF4-FFF2-40B4-BE49-F238E27FC236}">
                <a16:creationId xmlns:a16="http://schemas.microsoft.com/office/drawing/2014/main" id="{2FD13A3B-D20A-41F8-8385-B514AD575CEA}"/>
              </a:ext>
            </a:extLst>
          </p:cNvPr>
          <p:cNvSpPr/>
          <p:nvPr/>
        </p:nvSpPr>
        <p:spPr>
          <a:xfrm>
            <a:off x="7573757" y="3272453"/>
            <a:ext cx="45719" cy="4571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1" name="타원 220">
            <a:extLst>
              <a:ext uri="{FF2B5EF4-FFF2-40B4-BE49-F238E27FC236}">
                <a16:creationId xmlns:a16="http://schemas.microsoft.com/office/drawing/2014/main" id="{2B9FB92B-FBE1-4C3E-A081-67CF722D778F}"/>
              </a:ext>
            </a:extLst>
          </p:cNvPr>
          <p:cNvSpPr/>
          <p:nvPr/>
        </p:nvSpPr>
        <p:spPr>
          <a:xfrm>
            <a:off x="7568197" y="4845472"/>
            <a:ext cx="45719" cy="45719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D7246497-AEE6-40DF-9515-993363F2221F}"/>
              </a:ext>
            </a:extLst>
          </p:cNvPr>
          <p:cNvCxnSpPr>
            <a:cxnSpLocks/>
          </p:cNvCxnSpPr>
          <p:nvPr/>
        </p:nvCxnSpPr>
        <p:spPr>
          <a:xfrm flipH="1">
            <a:off x="6845767" y="4184061"/>
            <a:ext cx="1230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 Block Diagram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412483" y="2961352"/>
            <a:ext cx="2526975" cy="235492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RISCV 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MCU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670688" y="1661319"/>
            <a:ext cx="835692" cy="49318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APB BUS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5395164" y="1624777"/>
            <a:ext cx="5959432" cy="4947533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 flipV="1">
            <a:off x="2939459" y="4127235"/>
            <a:ext cx="731229" cy="11580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flipV="1">
            <a:off x="4488722" y="2858084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 flipV="1">
            <a:off x="4488722" y="3691959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4488722" y="4473717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4488722" y="5303732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4488722" y="6176213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 flipV="1">
            <a:off x="4488722" y="2051232"/>
            <a:ext cx="890909" cy="4824"/>
          </a:xfrm>
          <a:prstGeom prst="straightConnector1">
            <a:avLst/>
          </a:prstGeom>
          <a:ln w="38100">
            <a:solidFill>
              <a:schemeClr val="dk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5507195" y="1972074"/>
            <a:ext cx="1846001" cy="410117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0" name="TextBox 3"/>
          <p:cNvSpPr txBox="1"/>
          <p:nvPr/>
        </p:nvSpPr>
        <p:spPr>
          <a:xfrm>
            <a:off x="5386449" y="1495532"/>
            <a:ext cx="2106385" cy="548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>
                <a:solidFill>
                  <a:schemeClr val="dk1"/>
                </a:solidFill>
                <a:latin typeface="+mj-ea"/>
                <a:ea typeface="+mj-ea"/>
              </a:rPr>
              <a:t>APB Interface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5593412" y="2885251"/>
            <a:ext cx="1652579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579498" y="3672651"/>
            <a:ext cx="1652579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590630" y="4504162"/>
            <a:ext cx="1652579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46" name="TextBox 3"/>
          <p:cNvSpPr txBox="1"/>
          <p:nvPr/>
        </p:nvSpPr>
        <p:spPr>
          <a:xfrm>
            <a:off x="5692636" y="2857845"/>
            <a:ext cx="1906641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solidFill>
                  <a:schemeClr val="dk1"/>
                </a:solidFill>
                <a:latin typeface="+mj-ea"/>
                <a:ea typeface="+mj-ea"/>
              </a:rPr>
              <a:t>[31:0] TCR</a:t>
            </a:r>
          </a:p>
        </p:txBody>
      </p:sp>
      <p:sp>
        <p:nvSpPr>
          <p:cNvPr id="47" name="TextBox 3"/>
          <p:cNvSpPr txBox="1"/>
          <p:nvPr/>
        </p:nvSpPr>
        <p:spPr>
          <a:xfrm>
            <a:off x="5552797" y="3654811"/>
            <a:ext cx="1679279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solidFill>
                  <a:schemeClr val="dk1"/>
                </a:solidFill>
                <a:latin typeface="+mj-ea"/>
                <a:ea typeface="+mj-ea"/>
              </a:rPr>
              <a:t>[31:0] TCNT</a:t>
            </a:r>
          </a:p>
        </p:txBody>
      </p:sp>
      <p:sp>
        <p:nvSpPr>
          <p:cNvPr id="49" name="TextBox 3"/>
          <p:cNvSpPr txBox="1"/>
          <p:nvPr/>
        </p:nvSpPr>
        <p:spPr>
          <a:xfrm>
            <a:off x="5692637" y="4484407"/>
            <a:ext cx="1906641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solidFill>
                  <a:schemeClr val="dk1"/>
                </a:solidFill>
                <a:latin typeface="+mj-ea"/>
                <a:ea typeface="+mj-ea"/>
              </a:rPr>
              <a:t>[31:0] PSC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5585063" y="5262490"/>
            <a:ext cx="1652579" cy="55575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28" name="TextBox 3"/>
          <p:cNvSpPr txBox="1"/>
          <p:nvPr/>
        </p:nvSpPr>
        <p:spPr>
          <a:xfrm>
            <a:off x="5692636" y="5263640"/>
            <a:ext cx="1906641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800" b="1" dirty="0">
                <a:solidFill>
                  <a:schemeClr val="dk1"/>
                </a:solidFill>
                <a:latin typeface="+mj-ea"/>
                <a:ea typeface="+mj-ea"/>
              </a:rPr>
              <a:t>[31:0] ARR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E432A1-89EB-49BA-8311-967A199BB2D0}"/>
              </a:ext>
            </a:extLst>
          </p:cNvPr>
          <p:cNvSpPr/>
          <p:nvPr/>
        </p:nvSpPr>
        <p:spPr>
          <a:xfrm>
            <a:off x="7599277" y="2239933"/>
            <a:ext cx="3170600" cy="327937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11B23827-B7EF-4633-9B75-86637D0DEE4D}"/>
              </a:ext>
            </a:extLst>
          </p:cNvPr>
          <p:cNvCxnSpPr>
            <a:cxnSpLocks/>
          </p:cNvCxnSpPr>
          <p:nvPr/>
        </p:nvCxnSpPr>
        <p:spPr>
          <a:xfrm>
            <a:off x="10649558" y="3950529"/>
            <a:ext cx="41534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B347012-E23A-44D3-B9B5-BB8C6FAD9BA3}"/>
              </a:ext>
            </a:extLst>
          </p:cNvPr>
          <p:cNvSpPr/>
          <p:nvPr/>
        </p:nvSpPr>
        <p:spPr>
          <a:xfrm>
            <a:off x="7760751" y="3092145"/>
            <a:ext cx="1250163" cy="1716770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 dirty="0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E7495F0-AE1C-472D-820A-614001997F47}"/>
              </a:ext>
            </a:extLst>
          </p:cNvPr>
          <p:cNvSpPr/>
          <p:nvPr/>
        </p:nvSpPr>
        <p:spPr>
          <a:xfrm>
            <a:off x="9400545" y="3092145"/>
            <a:ext cx="1250163" cy="1716770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ko-KR" b="1">
              <a:solidFill>
                <a:schemeClr val="dk1"/>
              </a:solidFill>
              <a:latin typeface="+mj-ea"/>
              <a:ea typeface="+mj-ea"/>
            </a:endParaRPr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002FEA9D-0BB7-4FE1-BD58-905FA06D5FFE}"/>
              </a:ext>
            </a:extLst>
          </p:cNvPr>
          <p:cNvSpPr/>
          <p:nvPr/>
        </p:nvSpPr>
        <p:spPr>
          <a:xfrm rot="5400000">
            <a:off x="7759647" y="3189815"/>
            <a:ext cx="210457" cy="208251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이등변 삼각형 56">
            <a:extLst>
              <a:ext uri="{FF2B5EF4-FFF2-40B4-BE49-F238E27FC236}">
                <a16:creationId xmlns:a16="http://schemas.microsoft.com/office/drawing/2014/main" id="{8EA2E206-3D75-4094-8CEB-DDAD8CEAFBC6}"/>
              </a:ext>
            </a:extLst>
          </p:cNvPr>
          <p:cNvSpPr/>
          <p:nvPr/>
        </p:nvSpPr>
        <p:spPr>
          <a:xfrm rot="5400000">
            <a:off x="9404107" y="3189815"/>
            <a:ext cx="210457" cy="208251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E2B0D121-A821-4D6E-96CA-D71A30B74690}"/>
              </a:ext>
            </a:extLst>
          </p:cNvPr>
          <p:cNvSpPr txBox="1"/>
          <p:nvPr/>
        </p:nvSpPr>
        <p:spPr>
          <a:xfrm>
            <a:off x="9347470" y="3782004"/>
            <a:ext cx="516741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TICK</a:t>
            </a:r>
          </a:p>
        </p:txBody>
      </p:sp>
      <p:sp>
        <p:nvSpPr>
          <p:cNvPr id="60" name="TextBox 3">
            <a:extLst>
              <a:ext uri="{FF2B5EF4-FFF2-40B4-BE49-F238E27FC236}">
                <a16:creationId xmlns:a16="http://schemas.microsoft.com/office/drawing/2014/main" id="{BB5E2910-B7F9-4BBE-8353-9CE855C912D9}"/>
              </a:ext>
            </a:extLst>
          </p:cNvPr>
          <p:cNvSpPr txBox="1"/>
          <p:nvPr/>
        </p:nvSpPr>
        <p:spPr>
          <a:xfrm>
            <a:off x="10230404" y="3800720"/>
            <a:ext cx="516741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TCNT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BD9E0E04-C3EA-4A8B-A1C9-1D3B86131F0B}"/>
              </a:ext>
            </a:extLst>
          </p:cNvPr>
          <p:cNvCxnSpPr>
            <a:cxnSpLocks/>
          </p:cNvCxnSpPr>
          <p:nvPr/>
        </p:nvCxnSpPr>
        <p:spPr>
          <a:xfrm>
            <a:off x="7251635" y="4711552"/>
            <a:ext cx="5091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0AB94522-9F1A-457B-A556-203A02BE99C3}"/>
              </a:ext>
            </a:extLst>
          </p:cNvPr>
          <p:cNvCxnSpPr>
            <a:cxnSpLocks/>
          </p:cNvCxnSpPr>
          <p:nvPr/>
        </p:nvCxnSpPr>
        <p:spPr>
          <a:xfrm>
            <a:off x="7232076" y="5412592"/>
            <a:ext cx="19525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F9081FDC-BBE5-40BC-9AD5-7155828EBB62}"/>
              </a:ext>
            </a:extLst>
          </p:cNvPr>
          <p:cNvCxnSpPr>
            <a:cxnSpLocks/>
          </p:cNvCxnSpPr>
          <p:nvPr/>
        </p:nvCxnSpPr>
        <p:spPr>
          <a:xfrm flipH="1">
            <a:off x="9184576" y="4179094"/>
            <a:ext cx="5999" cy="12420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A4AB7CC8-1FB0-4F9C-95A5-E24831F511C0}"/>
              </a:ext>
            </a:extLst>
          </p:cNvPr>
          <p:cNvCxnSpPr>
            <a:cxnSpLocks/>
          </p:cNvCxnSpPr>
          <p:nvPr/>
        </p:nvCxnSpPr>
        <p:spPr>
          <a:xfrm>
            <a:off x="9182195" y="4182923"/>
            <a:ext cx="2130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0CA9D019-A030-4CA6-A28A-FE30409622DD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9010914" y="3950529"/>
            <a:ext cx="389631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3">
            <a:extLst>
              <a:ext uri="{FF2B5EF4-FFF2-40B4-BE49-F238E27FC236}">
                <a16:creationId xmlns:a16="http://schemas.microsoft.com/office/drawing/2014/main" id="{E6260407-B5F9-4C95-BC56-B68FF19CD19A}"/>
              </a:ext>
            </a:extLst>
          </p:cNvPr>
          <p:cNvSpPr txBox="1"/>
          <p:nvPr/>
        </p:nvSpPr>
        <p:spPr>
          <a:xfrm>
            <a:off x="8641728" y="3782004"/>
            <a:ext cx="516741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TICK</a:t>
            </a: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5B345588-B313-4BE6-98CF-6C250754A2FE}"/>
              </a:ext>
            </a:extLst>
          </p:cNvPr>
          <p:cNvCxnSpPr>
            <a:cxnSpLocks/>
          </p:cNvCxnSpPr>
          <p:nvPr/>
        </p:nvCxnSpPr>
        <p:spPr>
          <a:xfrm>
            <a:off x="7492834" y="2718026"/>
            <a:ext cx="35917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CB881C7D-AC61-46A9-A4D9-0A5B4E2A97AE}"/>
              </a:ext>
            </a:extLst>
          </p:cNvPr>
          <p:cNvCxnSpPr>
            <a:cxnSpLocks/>
          </p:cNvCxnSpPr>
          <p:nvPr/>
        </p:nvCxnSpPr>
        <p:spPr>
          <a:xfrm flipH="1">
            <a:off x="11070779" y="2718026"/>
            <a:ext cx="5999" cy="12420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DA7C3C91-9240-4861-A80E-8AA9D28F465E}"/>
              </a:ext>
            </a:extLst>
          </p:cNvPr>
          <p:cNvCxnSpPr>
            <a:cxnSpLocks/>
          </p:cNvCxnSpPr>
          <p:nvPr/>
        </p:nvCxnSpPr>
        <p:spPr>
          <a:xfrm flipH="1">
            <a:off x="7500751" y="2708502"/>
            <a:ext cx="505" cy="5076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40B037DE-07D9-4710-B105-7D9046442C8A}"/>
              </a:ext>
            </a:extLst>
          </p:cNvPr>
          <p:cNvCxnSpPr>
            <a:cxnSpLocks/>
          </p:cNvCxnSpPr>
          <p:nvPr/>
        </p:nvCxnSpPr>
        <p:spPr>
          <a:xfrm>
            <a:off x="7237642" y="3218917"/>
            <a:ext cx="2722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3">
            <a:extLst>
              <a:ext uri="{FF2B5EF4-FFF2-40B4-BE49-F238E27FC236}">
                <a16:creationId xmlns:a16="http://schemas.microsoft.com/office/drawing/2014/main" id="{F6FF4CF8-7FB1-4D5C-A492-189163C0E20D}"/>
              </a:ext>
            </a:extLst>
          </p:cNvPr>
          <p:cNvSpPr txBox="1"/>
          <p:nvPr/>
        </p:nvSpPr>
        <p:spPr>
          <a:xfrm>
            <a:off x="7710635" y="3866206"/>
            <a:ext cx="516741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EN</a:t>
            </a:r>
          </a:p>
        </p:txBody>
      </p:sp>
      <p:sp>
        <p:nvSpPr>
          <p:cNvPr id="74" name="TextBox 3">
            <a:extLst>
              <a:ext uri="{FF2B5EF4-FFF2-40B4-BE49-F238E27FC236}">
                <a16:creationId xmlns:a16="http://schemas.microsoft.com/office/drawing/2014/main" id="{E4D82A60-9739-4016-9A24-B171C3117ECF}"/>
              </a:ext>
            </a:extLst>
          </p:cNvPr>
          <p:cNvSpPr txBox="1"/>
          <p:nvPr/>
        </p:nvSpPr>
        <p:spPr>
          <a:xfrm>
            <a:off x="7703609" y="4067965"/>
            <a:ext cx="630766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CLEAR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E8582838-4260-4FE8-ABEC-2136549C9A9C}"/>
              </a:ext>
            </a:extLst>
          </p:cNvPr>
          <p:cNvSpPr/>
          <p:nvPr/>
        </p:nvSpPr>
        <p:spPr>
          <a:xfrm>
            <a:off x="5552870" y="2808346"/>
            <a:ext cx="1755030" cy="7070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6B6DF356-27B1-489E-A056-844BA2E6A1BE}"/>
              </a:ext>
            </a:extLst>
          </p:cNvPr>
          <p:cNvCxnSpPr>
            <a:cxnSpLocks/>
          </p:cNvCxnSpPr>
          <p:nvPr/>
        </p:nvCxnSpPr>
        <p:spPr>
          <a:xfrm flipH="1">
            <a:off x="7156278" y="2471131"/>
            <a:ext cx="5999" cy="124202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4C2F82B-4C53-45A6-B211-EA06F9614E11}"/>
              </a:ext>
            </a:extLst>
          </p:cNvPr>
          <p:cNvCxnSpPr>
            <a:cxnSpLocks/>
          </p:cNvCxnSpPr>
          <p:nvPr/>
        </p:nvCxnSpPr>
        <p:spPr>
          <a:xfrm flipH="1">
            <a:off x="7050504" y="2471130"/>
            <a:ext cx="5999" cy="124202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608EAAE2-3C1B-4ADD-8BAC-C15FF333E739}"/>
              </a:ext>
            </a:extLst>
          </p:cNvPr>
          <p:cNvCxnSpPr/>
          <p:nvPr/>
        </p:nvCxnSpPr>
        <p:spPr>
          <a:xfrm flipV="1">
            <a:off x="7093086" y="1930211"/>
            <a:ext cx="1335328" cy="1123027"/>
          </a:xfrm>
          <a:prstGeom prst="bentConnector3">
            <a:avLst>
              <a:gd name="adj1" fmla="val 6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4A723967-F6B9-415C-8698-B70057A42887}"/>
              </a:ext>
            </a:extLst>
          </p:cNvPr>
          <p:cNvCxnSpPr>
            <a:cxnSpLocks/>
          </p:cNvCxnSpPr>
          <p:nvPr/>
        </p:nvCxnSpPr>
        <p:spPr>
          <a:xfrm flipV="1">
            <a:off x="7196141" y="2059534"/>
            <a:ext cx="1240988" cy="1000306"/>
          </a:xfrm>
          <a:prstGeom prst="bentConnector3">
            <a:avLst>
              <a:gd name="adj1" fmla="val -40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3">
            <a:extLst>
              <a:ext uri="{FF2B5EF4-FFF2-40B4-BE49-F238E27FC236}">
                <a16:creationId xmlns:a16="http://schemas.microsoft.com/office/drawing/2014/main" id="{601D5FC3-C359-4480-81EB-8ECA552C979F}"/>
              </a:ext>
            </a:extLst>
          </p:cNvPr>
          <p:cNvSpPr txBox="1"/>
          <p:nvPr/>
        </p:nvSpPr>
        <p:spPr>
          <a:xfrm>
            <a:off x="8407747" y="1768030"/>
            <a:ext cx="630766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rgbClr val="FF0000"/>
                </a:solidFill>
                <a:latin typeface="+mj-ea"/>
                <a:ea typeface="+mj-ea"/>
              </a:rPr>
              <a:t>CLEAR</a:t>
            </a:r>
          </a:p>
        </p:txBody>
      </p:sp>
      <p:sp>
        <p:nvSpPr>
          <p:cNvPr id="88" name="TextBox 3">
            <a:extLst>
              <a:ext uri="{FF2B5EF4-FFF2-40B4-BE49-F238E27FC236}">
                <a16:creationId xmlns:a16="http://schemas.microsoft.com/office/drawing/2014/main" id="{08BC3198-7408-4CB9-821A-869AB8AC1E1A}"/>
              </a:ext>
            </a:extLst>
          </p:cNvPr>
          <p:cNvSpPr txBox="1"/>
          <p:nvPr/>
        </p:nvSpPr>
        <p:spPr>
          <a:xfrm>
            <a:off x="8401664" y="1909073"/>
            <a:ext cx="516741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rgbClr val="FF0000"/>
                </a:solidFill>
                <a:latin typeface="+mj-ea"/>
                <a:ea typeface="+mj-ea"/>
              </a:rPr>
              <a:t>EN</a:t>
            </a:r>
          </a:p>
        </p:txBody>
      </p:sp>
      <p:sp>
        <p:nvSpPr>
          <p:cNvPr id="89" name="TextBox 3">
            <a:extLst>
              <a:ext uri="{FF2B5EF4-FFF2-40B4-BE49-F238E27FC236}">
                <a16:creationId xmlns:a16="http://schemas.microsoft.com/office/drawing/2014/main" id="{2D7607EC-E005-4C40-8B82-A8DEE39FBEE9}"/>
              </a:ext>
            </a:extLst>
          </p:cNvPr>
          <p:cNvSpPr txBox="1"/>
          <p:nvPr/>
        </p:nvSpPr>
        <p:spPr>
          <a:xfrm>
            <a:off x="7934246" y="3132706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100Mhz</a:t>
            </a:r>
          </a:p>
        </p:txBody>
      </p:sp>
      <p:sp>
        <p:nvSpPr>
          <p:cNvPr id="90" name="TextBox 3">
            <a:extLst>
              <a:ext uri="{FF2B5EF4-FFF2-40B4-BE49-F238E27FC236}">
                <a16:creationId xmlns:a16="http://schemas.microsoft.com/office/drawing/2014/main" id="{D4885DDA-2AA3-4B48-BB22-FAEBA031509E}"/>
              </a:ext>
            </a:extLst>
          </p:cNvPr>
          <p:cNvSpPr txBox="1"/>
          <p:nvPr/>
        </p:nvSpPr>
        <p:spPr>
          <a:xfrm>
            <a:off x="9569522" y="3136724"/>
            <a:ext cx="739049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dk1"/>
                </a:solidFill>
                <a:latin typeface="+mj-ea"/>
                <a:ea typeface="+mj-ea"/>
              </a:rPr>
              <a:t>1Khz</a:t>
            </a:r>
          </a:p>
        </p:txBody>
      </p:sp>
      <p:sp>
        <p:nvSpPr>
          <p:cNvPr id="91" name="TextBox 3">
            <a:extLst>
              <a:ext uri="{FF2B5EF4-FFF2-40B4-BE49-F238E27FC236}">
                <a16:creationId xmlns:a16="http://schemas.microsoft.com/office/drawing/2014/main" id="{B90A7200-676F-439C-933C-6C15FC3AEF17}"/>
              </a:ext>
            </a:extLst>
          </p:cNvPr>
          <p:cNvSpPr txBox="1"/>
          <p:nvPr/>
        </p:nvSpPr>
        <p:spPr>
          <a:xfrm>
            <a:off x="8188940" y="5498774"/>
            <a:ext cx="2589652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rgbClr val="FF0000"/>
                </a:solidFill>
                <a:latin typeface="+mj-ea"/>
                <a:ea typeface="+mj-ea"/>
              </a:rPr>
              <a:t>32Bit Counter : 0 ~ 4,294,967,295</a:t>
            </a:r>
          </a:p>
        </p:txBody>
      </p:sp>
      <p:sp>
        <p:nvSpPr>
          <p:cNvPr id="92" name="TextBox 3">
            <a:extLst>
              <a:ext uri="{FF2B5EF4-FFF2-40B4-BE49-F238E27FC236}">
                <a16:creationId xmlns:a16="http://schemas.microsoft.com/office/drawing/2014/main" id="{74038981-723C-49A5-820A-53CEA290CE46}"/>
              </a:ext>
            </a:extLst>
          </p:cNvPr>
          <p:cNvSpPr txBox="1"/>
          <p:nvPr/>
        </p:nvSpPr>
        <p:spPr>
          <a:xfrm>
            <a:off x="8673295" y="1798737"/>
            <a:ext cx="1450220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dk1"/>
                </a:solidFill>
                <a:latin typeface="+mj-ea"/>
                <a:ea typeface="+mj-ea"/>
              </a:rPr>
              <a:t>TIMER</a:t>
            </a:r>
          </a:p>
        </p:txBody>
      </p:sp>
    </p:spTree>
    <p:extLst>
      <p:ext uri="{BB962C8B-B14F-4D97-AF65-F5344CB8AC3E}">
        <p14:creationId xmlns:p14="http://schemas.microsoft.com/office/powerpoint/2010/main" val="137983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 Block Diagram</a:t>
            </a:r>
          </a:p>
        </p:txBody>
      </p:sp>
      <p:sp>
        <p:nvSpPr>
          <p:cNvPr id="1029" name="TextBox 3"/>
          <p:cNvSpPr txBox="1"/>
          <p:nvPr/>
        </p:nvSpPr>
        <p:spPr>
          <a:xfrm>
            <a:off x="6175719" y="2316064"/>
            <a:ext cx="57402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</a:rPr>
              <a:t>▶ </a:t>
            </a:r>
            <a:r>
              <a:rPr lang="en-US" altLang="ko-KR" sz="1800" b="1" dirty="0">
                <a:latin typeface="+mj-ea"/>
              </a:rPr>
              <a:t>TIMER : 0x1000_7000 ~ 0x1000_7FFF </a:t>
            </a:r>
            <a:endParaRPr lang="en-US" altLang="ko-KR" sz="1800" b="1" dirty="0"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  <a:ea typeface="+mj-ea"/>
              </a:rPr>
              <a:t>▶ </a:t>
            </a:r>
            <a:r>
              <a:rPr lang="en-US" altLang="ko-KR" sz="1800" b="1" dirty="0">
                <a:latin typeface="+mj-ea"/>
                <a:ea typeface="+mj-ea"/>
              </a:rPr>
              <a:t>UART : 0x1000_6000 ~ 0x1000_6FFF 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</a:rPr>
              <a:t>▶ </a:t>
            </a:r>
            <a:r>
              <a:rPr lang="en-US" altLang="ko-KR" sz="1800" b="1" dirty="0">
                <a:latin typeface="+mj-ea"/>
              </a:rPr>
              <a:t>FND : 0x1000_5000 ~ 0x1000_5FFF </a:t>
            </a:r>
            <a:endParaRPr lang="en-US" altLang="ko-KR" sz="1800" b="1" dirty="0"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  <a:ea typeface="+mj-ea"/>
              </a:rPr>
              <a:t>▶ </a:t>
            </a:r>
            <a:r>
              <a:rPr lang="en-US" altLang="ko-KR" sz="1800" b="1" dirty="0">
                <a:latin typeface="+mj-ea"/>
                <a:ea typeface="+mj-ea"/>
              </a:rPr>
              <a:t>GPIOD : </a:t>
            </a:r>
            <a:r>
              <a:rPr lang="en-US" altLang="ko-KR" sz="1800" b="1" dirty="0">
                <a:latin typeface="+mj-ea"/>
              </a:rPr>
              <a:t>0x1000_4000 ~ 0x1000_4FFF </a:t>
            </a:r>
            <a:endParaRPr lang="en-US" altLang="ko-KR" sz="1800" b="1" dirty="0"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  <a:ea typeface="+mj-ea"/>
              </a:rPr>
              <a:t>▶ </a:t>
            </a:r>
            <a:r>
              <a:rPr lang="en-US" altLang="ko-KR" sz="1800" b="1" dirty="0">
                <a:latin typeface="+mj-ea"/>
                <a:ea typeface="+mj-ea"/>
              </a:rPr>
              <a:t>GPIOC : </a:t>
            </a:r>
            <a:r>
              <a:rPr lang="en-US" altLang="ko-KR" sz="1800" b="1" dirty="0">
                <a:latin typeface="+mj-ea"/>
              </a:rPr>
              <a:t>0x1000_3000 ~ 0x1000_3FFF </a:t>
            </a:r>
            <a:endParaRPr lang="en-US" altLang="ko-KR" sz="1800" b="1" dirty="0"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  <a:ea typeface="+mj-ea"/>
              </a:rPr>
              <a:t>▶ </a:t>
            </a:r>
            <a:r>
              <a:rPr lang="en-US" altLang="ko-KR" sz="1800" b="1" dirty="0">
                <a:latin typeface="+mj-ea"/>
                <a:ea typeface="+mj-ea"/>
              </a:rPr>
              <a:t>GIOB : </a:t>
            </a:r>
            <a:r>
              <a:rPr lang="en-US" altLang="ko-KR" sz="1800" b="1" dirty="0">
                <a:latin typeface="+mj-ea"/>
              </a:rPr>
              <a:t>0x1000_2000 ~ 0x1000_2FFF </a:t>
            </a:r>
            <a:endParaRPr lang="en-US" altLang="ko-KR" sz="1800" b="1" dirty="0"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  <a:ea typeface="+mj-ea"/>
              </a:rPr>
              <a:t>▶ </a:t>
            </a:r>
            <a:r>
              <a:rPr lang="en-US" altLang="ko-KR" sz="1800" b="1" dirty="0">
                <a:latin typeface="+mj-ea"/>
                <a:ea typeface="+mj-ea"/>
              </a:rPr>
              <a:t>GPOA : </a:t>
            </a:r>
            <a:r>
              <a:rPr lang="en-US" altLang="ko-KR" sz="1800" b="1" dirty="0">
                <a:latin typeface="+mj-ea"/>
              </a:rPr>
              <a:t>0x1000_1000 ~ 0x1000_1FFF </a:t>
            </a:r>
            <a:endParaRPr lang="en-US" altLang="ko-KR" sz="1800" b="1" dirty="0"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  <a:ea typeface="+mj-ea"/>
              </a:rPr>
              <a:t>▶ </a:t>
            </a:r>
            <a:r>
              <a:rPr lang="en-US" altLang="ko-KR" sz="1800" b="1" dirty="0">
                <a:latin typeface="+mj-ea"/>
                <a:ea typeface="+mj-ea"/>
              </a:rPr>
              <a:t>RAM :</a:t>
            </a:r>
            <a:r>
              <a:rPr lang="en-US" altLang="ko-KR" sz="1800" b="1" dirty="0">
                <a:latin typeface="+mj-ea"/>
              </a:rPr>
              <a:t> 0x1000_0000 ~ 0x1000_0FFF </a:t>
            </a:r>
            <a:endParaRPr lang="en-US" altLang="ko-KR" sz="1800" b="1" dirty="0">
              <a:latin typeface="+mj-ea"/>
              <a:ea typeface="+mj-ea"/>
            </a:endParaRPr>
          </a:p>
        </p:txBody>
      </p:sp>
      <p:sp>
        <p:nvSpPr>
          <p:cNvPr id="1030" name="직사각형 1029"/>
          <p:cNvSpPr/>
          <p:nvPr/>
        </p:nvSpPr>
        <p:spPr>
          <a:xfrm>
            <a:off x="1116936" y="1532752"/>
            <a:ext cx="4780357" cy="514620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037" name="TextBox 3"/>
          <p:cNvSpPr txBox="1"/>
          <p:nvPr/>
        </p:nvSpPr>
        <p:spPr>
          <a:xfrm>
            <a:off x="1620955" y="6174143"/>
            <a:ext cx="4066335" cy="36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</a:t>
            </a:r>
            <a:r>
              <a:rPr lang="en-US" altLang="ko-KR" sz="1800" b="1" dirty="0">
                <a:latin typeface="+mj-ea"/>
                <a:ea typeface="+mj-ea"/>
              </a:rPr>
              <a:t>0x1000_0000 ~ 0x1000_0FFF</a:t>
            </a:r>
          </a:p>
        </p:txBody>
      </p:sp>
      <p:sp>
        <p:nvSpPr>
          <p:cNvPr id="1038" name="TextBox 3"/>
          <p:cNvSpPr txBox="1"/>
          <p:nvPr/>
        </p:nvSpPr>
        <p:spPr>
          <a:xfrm>
            <a:off x="1605365" y="5678844"/>
            <a:ext cx="4066335" cy="36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</a:t>
            </a:r>
            <a:r>
              <a:rPr lang="en-US" altLang="ko-KR" sz="1800" b="1" dirty="0">
                <a:latin typeface="+mj-ea"/>
                <a:ea typeface="+mj-ea"/>
              </a:rPr>
              <a:t>0x1000_1000 ~ 0x1000_1FFF</a:t>
            </a:r>
          </a:p>
        </p:txBody>
      </p:sp>
      <p:sp>
        <p:nvSpPr>
          <p:cNvPr id="1039" name="TextBox 3"/>
          <p:cNvSpPr txBox="1"/>
          <p:nvPr/>
        </p:nvSpPr>
        <p:spPr>
          <a:xfrm>
            <a:off x="1605366" y="5184197"/>
            <a:ext cx="4066335" cy="36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</a:t>
            </a:r>
            <a:r>
              <a:rPr lang="en-US" altLang="ko-KR" sz="1800" b="1" dirty="0">
                <a:latin typeface="+mj-ea"/>
                <a:ea typeface="+mj-ea"/>
              </a:rPr>
              <a:t>0x1000_2000 ~ 0x1000_2FFF</a:t>
            </a:r>
          </a:p>
        </p:txBody>
      </p:sp>
      <p:sp>
        <p:nvSpPr>
          <p:cNvPr id="1040" name="TextBox 3"/>
          <p:cNvSpPr txBox="1"/>
          <p:nvPr/>
        </p:nvSpPr>
        <p:spPr>
          <a:xfrm>
            <a:off x="1605367" y="4627711"/>
            <a:ext cx="4066334" cy="36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</a:t>
            </a:r>
            <a:r>
              <a:rPr lang="en-US" altLang="ko-KR" sz="1800" b="1" dirty="0">
                <a:latin typeface="+mj-ea"/>
                <a:ea typeface="+mj-ea"/>
              </a:rPr>
              <a:t>0x1000_3000 ~ 0x1000_3FFF</a:t>
            </a:r>
          </a:p>
        </p:txBody>
      </p:sp>
      <p:sp>
        <p:nvSpPr>
          <p:cNvPr id="1041" name="TextBox 3"/>
          <p:cNvSpPr txBox="1"/>
          <p:nvPr/>
        </p:nvSpPr>
        <p:spPr>
          <a:xfrm>
            <a:off x="1605366" y="4120338"/>
            <a:ext cx="4066334" cy="36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</a:t>
            </a:r>
            <a:r>
              <a:rPr lang="en-US" altLang="ko-KR" sz="1800" b="1" dirty="0">
                <a:latin typeface="+mj-ea"/>
                <a:ea typeface="+mj-ea"/>
              </a:rPr>
              <a:t>0x1000_4000 ~ 0x1000_4FFF</a:t>
            </a:r>
          </a:p>
        </p:txBody>
      </p:sp>
      <p:sp>
        <p:nvSpPr>
          <p:cNvPr id="1042" name="TextBox 3"/>
          <p:cNvSpPr txBox="1"/>
          <p:nvPr/>
        </p:nvSpPr>
        <p:spPr>
          <a:xfrm>
            <a:off x="1620955" y="3566808"/>
            <a:ext cx="4066335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</a:t>
            </a:r>
            <a:r>
              <a:rPr lang="en-US" altLang="ko-KR" sz="1800" b="1" dirty="0">
                <a:latin typeface="+mj-ea"/>
                <a:ea typeface="+mj-ea"/>
              </a:rPr>
              <a:t>0x1000_5000 ~ 0x1000_5FFF</a:t>
            </a:r>
          </a:p>
        </p:txBody>
      </p:sp>
      <p:cxnSp>
        <p:nvCxnSpPr>
          <p:cNvPr id="21" name="직선 연결선 20"/>
          <p:cNvCxnSpPr/>
          <p:nvPr/>
        </p:nvCxnSpPr>
        <p:spPr>
          <a:xfrm>
            <a:off x="1126957" y="6220103"/>
            <a:ext cx="4780357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1126957" y="5708072"/>
            <a:ext cx="4780357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1126957" y="5212772"/>
            <a:ext cx="4780357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1126957" y="4688897"/>
            <a:ext cx="4780357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1126957" y="4120338"/>
            <a:ext cx="4780357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1126957" y="3629303"/>
            <a:ext cx="4780357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1126957" y="3117272"/>
            <a:ext cx="4780357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1116935" y="2591078"/>
            <a:ext cx="4780357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1116935" y="2079047"/>
            <a:ext cx="4780357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3"/>
          <p:cNvSpPr txBox="1"/>
          <p:nvPr/>
        </p:nvSpPr>
        <p:spPr>
          <a:xfrm>
            <a:off x="1620955" y="3082548"/>
            <a:ext cx="4066335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</a:t>
            </a:r>
            <a:r>
              <a:rPr lang="en-US" altLang="ko-KR" sz="1800" b="1" dirty="0">
                <a:latin typeface="+mj-ea"/>
                <a:ea typeface="+mj-ea"/>
              </a:rPr>
              <a:t>0x1000_6000 ~ 0x1000_6FFF</a:t>
            </a:r>
          </a:p>
        </p:txBody>
      </p:sp>
      <p:sp>
        <p:nvSpPr>
          <p:cNvPr id="31" name="TextBox 3"/>
          <p:cNvSpPr txBox="1"/>
          <p:nvPr/>
        </p:nvSpPr>
        <p:spPr>
          <a:xfrm>
            <a:off x="1620956" y="2526062"/>
            <a:ext cx="4066334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</a:t>
            </a:r>
            <a:r>
              <a:rPr lang="en-US" altLang="ko-KR" sz="1800" b="1" dirty="0">
                <a:latin typeface="+mj-ea"/>
                <a:ea typeface="+mj-ea"/>
              </a:rPr>
              <a:t>0x1000_7000 ~ 0x1000_7FFF</a:t>
            </a:r>
          </a:p>
        </p:txBody>
      </p:sp>
      <p:sp>
        <p:nvSpPr>
          <p:cNvPr id="32" name="TextBox 3"/>
          <p:cNvSpPr txBox="1"/>
          <p:nvPr/>
        </p:nvSpPr>
        <p:spPr>
          <a:xfrm>
            <a:off x="1620955" y="2018689"/>
            <a:ext cx="4066334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</a:t>
            </a:r>
            <a:r>
              <a:rPr lang="en-US" altLang="ko-KR" sz="1800" b="1" dirty="0">
                <a:latin typeface="+mj-ea"/>
                <a:ea typeface="+mj-ea"/>
              </a:rPr>
              <a:t>0x1000_8000 ~ 0x1000_8FFF</a:t>
            </a:r>
          </a:p>
        </p:txBody>
      </p:sp>
      <p:sp>
        <p:nvSpPr>
          <p:cNvPr id="33" name="TextBox 3"/>
          <p:cNvSpPr txBox="1"/>
          <p:nvPr/>
        </p:nvSpPr>
        <p:spPr>
          <a:xfrm>
            <a:off x="1620955" y="1532752"/>
            <a:ext cx="40663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</a:t>
            </a:r>
            <a:r>
              <a:rPr lang="en-US" altLang="ko-KR" sz="1800" b="1" dirty="0">
                <a:latin typeface="+mj-ea"/>
                <a:ea typeface="+mj-ea"/>
              </a:rPr>
              <a:t>0x1000_9000 ~ 0x1000_9FFF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99E2C5-9FC1-4FD5-AC4B-7AD996F3A8D9}"/>
              </a:ext>
            </a:extLst>
          </p:cNvPr>
          <p:cNvSpPr/>
          <p:nvPr/>
        </p:nvSpPr>
        <p:spPr>
          <a:xfrm>
            <a:off x="6175719" y="4833765"/>
            <a:ext cx="4780357" cy="8743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221B937-D23F-4E0B-B721-262749E80508}"/>
              </a:ext>
            </a:extLst>
          </p:cNvPr>
          <p:cNvSpPr/>
          <p:nvPr/>
        </p:nvSpPr>
        <p:spPr>
          <a:xfrm>
            <a:off x="6185740" y="2789289"/>
            <a:ext cx="4780357" cy="440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"/>
          <p:cNvSpPr>
            <a:spLocks noGrp="1"/>
          </p:cNvSpPr>
          <p:nvPr>
            <p:ph type="title"/>
          </p:nvPr>
        </p:nvSpPr>
        <p:spPr>
          <a:xfrm>
            <a:off x="609521" y="189434"/>
            <a:ext cx="10971373" cy="79875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3. Simulation - RISCV MultiCycle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353" y="1473779"/>
            <a:ext cx="8078334" cy="1989113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4630877" y="2362463"/>
            <a:ext cx="3801971" cy="12014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8402982" y="2245668"/>
            <a:ext cx="1650238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</a:rPr>
              <a:t>X4 </a:t>
            </a:r>
            <a:r>
              <a:rPr lang="ko-KR" altLang="en-US" sz="900" b="1" dirty="0">
                <a:solidFill>
                  <a:schemeClr val="bg1"/>
                </a:solidFill>
              </a:rPr>
              <a:t>← </a:t>
            </a:r>
            <a:r>
              <a:rPr lang="en-US" altLang="ko-KR" sz="900" b="1" dirty="0">
                <a:solidFill>
                  <a:schemeClr val="bg1"/>
                </a:solidFill>
              </a:rPr>
              <a:t>X2 + X1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5301781" y="2485702"/>
            <a:ext cx="3801971" cy="12014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9072197" y="2376714"/>
            <a:ext cx="1650238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/>
              <a:t>X5 </a:t>
            </a:r>
            <a:r>
              <a:rPr lang="ko-KR" altLang="en-US" sz="900" b="1" dirty="0"/>
              <a:t>← </a:t>
            </a:r>
            <a:r>
              <a:rPr lang="en-US" altLang="ko-KR" sz="900" b="1" dirty="0"/>
              <a:t>X2 – X1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5992068" y="2605844"/>
            <a:ext cx="3855268" cy="12014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9810493" y="2499953"/>
            <a:ext cx="1650238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/>
              <a:t>X6 </a:t>
            </a:r>
            <a:r>
              <a:rPr lang="ko-KR" altLang="en-US" sz="900" b="1" dirty="0"/>
              <a:t>← </a:t>
            </a:r>
            <a:r>
              <a:rPr lang="en-US" altLang="ko-KR" sz="900" b="1" dirty="0"/>
              <a:t>X3 &amp; X0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6876994" y="2719557"/>
            <a:ext cx="3066413" cy="13364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9930656" y="2618463"/>
            <a:ext cx="1650238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/>
              <a:t>X7 </a:t>
            </a:r>
            <a:r>
              <a:rPr lang="ko-KR" altLang="en-US" sz="900" b="1" dirty="0"/>
              <a:t>← </a:t>
            </a:r>
            <a:r>
              <a:rPr lang="en-US" altLang="ko-KR" sz="900" b="1" dirty="0"/>
              <a:t>X3 | X0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7570546" y="2957581"/>
            <a:ext cx="1960728" cy="11932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8389333" y="3090912"/>
            <a:ext cx="1541323" cy="10923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9077770" y="3210236"/>
            <a:ext cx="865637" cy="12355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9512212" y="2842796"/>
            <a:ext cx="1650238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/>
              <a:t>X9 </a:t>
            </a:r>
            <a:r>
              <a:rPr lang="ko-KR" altLang="en-US" sz="900" b="1" dirty="0"/>
              <a:t>← </a:t>
            </a:r>
            <a:r>
              <a:rPr lang="en-US" altLang="ko-KR" sz="900" b="1" dirty="0"/>
              <a:t>X1 + 1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9889928" y="2967987"/>
            <a:ext cx="1650238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/>
              <a:t>X7 </a:t>
            </a:r>
            <a:r>
              <a:rPr lang="ko-KR" altLang="en-US" sz="900" b="1" dirty="0"/>
              <a:t>← </a:t>
            </a:r>
            <a:r>
              <a:rPr lang="en-US" altLang="ko-KR" sz="900" b="1" dirty="0"/>
              <a:t>X2 | 4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9900989" y="3110181"/>
            <a:ext cx="1650238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/>
              <a:t>X11 </a:t>
            </a:r>
            <a:r>
              <a:rPr lang="ko-KR" altLang="en-US" sz="900" b="1" dirty="0"/>
              <a:t>← </a:t>
            </a:r>
            <a:r>
              <a:rPr lang="en-US" altLang="ko-KR" sz="900" b="1" dirty="0"/>
              <a:t>X1 (SLLI) 3</a:t>
            </a:r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79" y="3490420"/>
            <a:ext cx="8083418" cy="3014868"/>
          </a:xfrm>
          <a:prstGeom prst="rect">
            <a:avLst/>
          </a:prstGeom>
        </p:spPr>
      </p:pic>
      <p:sp>
        <p:nvSpPr>
          <p:cNvPr id="44" name="직사각형 43"/>
          <p:cNvSpPr/>
          <p:nvPr/>
        </p:nvSpPr>
        <p:spPr>
          <a:xfrm>
            <a:off x="7841490" y="5598905"/>
            <a:ext cx="865637" cy="12355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8664708" y="5498850"/>
            <a:ext cx="1881513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/>
              <a:t>Mem[X12+0] </a:t>
            </a:r>
            <a:r>
              <a:rPr lang="ko-KR" altLang="en-US" sz="900" b="1" dirty="0"/>
              <a:t>← </a:t>
            </a:r>
            <a:r>
              <a:rPr lang="en-US" altLang="ko-KR" sz="900" b="1" dirty="0"/>
              <a:t>X1 to Byte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7326329" y="5749305"/>
            <a:ext cx="515161" cy="23003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9046477" y="5864321"/>
            <a:ext cx="594544" cy="50678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9579218" y="5978134"/>
            <a:ext cx="1881513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/>
              <a:t>Mem[X14+0] </a:t>
            </a:r>
            <a:r>
              <a:rPr lang="ko-KR" altLang="en-US" sz="900" b="1" dirty="0"/>
              <a:t>← </a:t>
            </a:r>
            <a:r>
              <a:rPr lang="en-US" altLang="ko-KR" sz="900" b="1" dirty="0"/>
              <a:t>X1 to Word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6848892" y="5942231"/>
            <a:ext cx="1881513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</a:rPr>
              <a:t>Mem[X13+0] </a:t>
            </a:r>
            <a:r>
              <a:rPr lang="ko-KR" altLang="en-US" sz="900" b="1" dirty="0">
                <a:solidFill>
                  <a:schemeClr val="bg1"/>
                </a:solidFill>
              </a:rPr>
              <a:t>← </a:t>
            </a:r>
            <a:r>
              <a:rPr lang="en-US" altLang="ko-KR" sz="900" b="1" dirty="0">
                <a:solidFill>
                  <a:schemeClr val="bg1"/>
                </a:solidFill>
              </a:rPr>
              <a:t>X1 to </a:t>
            </a:r>
            <a:r>
              <a:rPr lang="en-US" altLang="ko-KR" sz="900" b="1" dirty="0" err="1">
                <a:solidFill>
                  <a:schemeClr val="bg1"/>
                </a:solidFill>
              </a:rPr>
              <a:t>HalfWord</a:t>
            </a:r>
            <a:endParaRPr lang="en-US" altLang="ko-KR" sz="9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94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609521" y="189434"/>
            <a:ext cx="10971373" cy="79875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3. Simulation - RISCV MultiCycle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81" y="1321379"/>
            <a:ext cx="7658814" cy="258533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481006" y="3186908"/>
            <a:ext cx="865637" cy="9164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6299414" y="3020784"/>
            <a:ext cx="1650238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</a:rPr>
              <a:t>X16 </a:t>
            </a:r>
            <a:r>
              <a:rPr lang="ko-KR" altLang="en-US" sz="900" b="1" dirty="0">
                <a:solidFill>
                  <a:schemeClr val="bg1"/>
                </a:solidFill>
              </a:rPr>
              <a:t>← </a:t>
            </a:r>
            <a:r>
              <a:rPr lang="en-US" altLang="ko-KR" sz="900" b="1" dirty="0">
                <a:solidFill>
                  <a:schemeClr val="bg1"/>
                </a:solidFill>
              </a:rPr>
              <a:t>Mem[X14+0]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988212" y="3289879"/>
            <a:ext cx="865637" cy="9164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6509495" y="3384482"/>
            <a:ext cx="865637" cy="9164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007489" y="3479662"/>
            <a:ext cx="865637" cy="9164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7465230" y="3582633"/>
            <a:ext cx="865637" cy="9164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7809124" y="3673051"/>
            <a:ext cx="865637" cy="9164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280840" y="3774120"/>
            <a:ext cx="393921" cy="9164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6790812" y="3131874"/>
            <a:ext cx="1650238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</a:rPr>
              <a:t>X17 </a:t>
            </a:r>
            <a:r>
              <a:rPr lang="ko-KR" altLang="en-US" sz="900" b="1" dirty="0">
                <a:solidFill>
                  <a:schemeClr val="bg1"/>
                </a:solidFill>
              </a:rPr>
              <a:t>← </a:t>
            </a:r>
            <a:r>
              <a:rPr lang="en-US" altLang="ko-KR" sz="900" b="1" dirty="0">
                <a:solidFill>
                  <a:schemeClr val="bg1"/>
                </a:solidFill>
              </a:rPr>
              <a:t>Mem[X15+0]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7318496" y="3247223"/>
            <a:ext cx="1650238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</a:rPr>
              <a:t>X18 </a:t>
            </a:r>
            <a:r>
              <a:rPr lang="ko-KR" altLang="en-US" sz="900" b="1" dirty="0">
                <a:solidFill>
                  <a:schemeClr val="bg1"/>
                </a:solidFill>
              </a:rPr>
              <a:t>← </a:t>
            </a:r>
            <a:r>
              <a:rPr lang="en-US" altLang="ko-KR" sz="900" b="1" dirty="0">
                <a:solidFill>
                  <a:schemeClr val="bg1"/>
                </a:solidFill>
              </a:rPr>
              <a:t>Mem[X16+0]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7839779" y="3355305"/>
            <a:ext cx="1650238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</a:rPr>
              <a:t>X19 </a:t>
            </a:r>
            <a:r>
              <a:rPr lang="ko-KR" altLang="en-US" sz="900" b="1" dirty="0">
                <a:solidFill>
                  <a:schemeClr val="bg1"/>
                </a:solidFill>
              </a:rPr>
              <a:t>← </a:t>
            </a:r>
            <a:r>
              <a:rPr lang="en-US" altLang="ko-KR" sz="900" b="1" dirty="0">
                <a:solidFill>
                  <a:schemeClr val="bg1"/>
                </a:solidFill>
              </a:rPr>
              <a:t>Mem[X16+0]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6550013" y="3579854"/>
            <a:ext cx="1650238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</a:rPr>
              <a:t>X20 </a:t>
            </a:r>
            <a:r>
              <a:rPr lang="ko-KR" altLang="en-US" sz="900" b="1" dirty="0">
                <a:solidFill>
                  <a:schemeClr val="bg1"/>
                </a:solidFill>
              </a:rPr>
              <a:t>← </a:t>
            </a:r>
            <a:r>
              <a:rPr lang="en-US" altLang="ko-KR" sz="900" b="1" dirty="0">
                <a:solidFill>
                  <a:schemeClr val="bg1"/>
                </a:solidFill>
              </a:rPr>
              <a:t>Mem[X16+0]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8626047" y="3523010"/>
            <a:ext cx="1650238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/>
              <a:t>X21 </a:t>
            </a:r>
            <a:r>
              <a:rPr lang="ko-KR" altLang="en-US" sz="900" b="1" dirty="0"/>
              <a:t>← </a:t>
            </a:r>
            <a:r>
              <a:rPr lang="en-US" altLang="ko-KR" sz="900" b="1" dirty="0"/>
              <a:t>0x10000000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8626047" y="3673326"/>
            <a:ext cx="1650238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/>
              <a:t>X22 </a:t>
            </a:r>
            <a:r>
              <a:rPr lang="ko-KR" altLang="en-US" sz="900" b="1" dirty="0"/>
              <a:t>← </a:t>
            </a:r>
            <a:r>
              <a:rPr lang="en-US" altLang="ko-KR" sz="900" b="1" dirty="0"/>
              <a:t>0xABCDE&lt;&lt;12+PC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748" y="4036452"/>
            <a:ext cx="3056014" cy="578728"/>
          </a:xfrm>
          <a:prstGeom prst="rect">
            <a:avLst/>
          </a:prstGeom>
        </p:spPr>
      </p:pic>
      <p:cxnSp>
        <p:nvCxnSpPr>
          <p:cNvPr id="21" name="직선 화살표 연결선 20"/>
          <p:cNvCxnSpPr/>
          <p:nvPr/>
        </p:nvCxnSpPr>
        <p:spPr>
          <a:xfrm>
            <a:off x="8968734" y="4126211"/>
            <a:ext cx="0" cy="9212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782" y="3950885"/>
            <a:ext cx="7658814" cy="2711202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3663319" y="4167848"/>
            <a:ext cx="1873881" cy="13897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3772270" y="3930746"/>
            <a:ext cx="1650238" cy="27744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</a:rPr>
              <a:t>X2 = X2</a:t>
            </a:r>
            <a:r>
              <a:rPr lang="ko-KR" altLang="en-US" sz="900" b="1" dirty="0">
                <a:solidFill>
                  <a:schemeClr val="bg1"/>
                </a:solidFill>
              </a:rPr>
              <a:t>이면 </a:t>
            </a:r>
            <a:r>
              <a:rPr lang="en-US" altLang="ko-KR" sz="900" b="1" dirty="0">
                <a:solidFill>
                  <a:schemeClr val="bg1"/>
                </a:solidFill>
              </a:rPr>
              <a:t>2 Shift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7702098" y="6368005"/>
            <a:ext cx="972664" cy="13897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7895410" y="6110962"/>
            <a:ext cx="1650238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</a:rPr>
              <a:t>3 Shift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054577" y="4158194"/>
            <a:ext cx="1873881" cy="13897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5333767" y="3918256"/>
            <a:ext cx="1650238" cy="27744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</a:rPr>
              <a:t>X2 != X3</a:t>
            </a:r>
            <a:r>
              <a:rPr lang="ko-KR" altLang="en-US" sz="900" b="1" dirty="0">
                <a:solidFill>
                  <a:schemeClr val="bg1"/>
                </a:solidFill>
              </a:rPr>
              <a:t>이면 </a:t>
            </a:r>
            <a:r>
              <a:rPr lang="en-US" altLang="ko-KR" sz="900" b="1" dirty="0">
                <a:solidFill>
                  <a:schemeClr val="bg1"/>
                </a:solidFill>
              </a:rPr>
              <a:t>3 Shift</a:t>
            </a:r>
          </a:p>
        </p:txBody>
      </p:sp>
      <p:cxnSp>
        <p:nvCxnSpPr>
          <p:cNvPr id="29" name="직선 화살표 연결선 28"/>
          <p:cNvCxnSpPr/>
          <p:nvPr/>
        </p:nvCxnSpPr>
        <p:spPr>
          <a:xfrm>
            <a:off x="8936629" y="4237336"/>
            <a:ext cx="0" cy="50690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8760154" y="4695102"/>
            <a:ext cx="533339" cy="27328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rgbClr val="FF0000"/>
                </a:solidFill>
              </a:rPr>
              <a:t>X18</a:t>
            </a:r>
          </a:p>
        </p:txBody>
      </p:sp>
    </p:spTree>
    <p:extLst>
      <p:ext uri="{BB962C8B-B14F-4D97-AF65-F5344CB8AC3E}">
        <p14:creationId xmlns:p14="http://schemas.microsoft.com/office/powerpoint/2010/main" val="265627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609521" y="189434"/>
            <a:ext cx="10971373" cy="79875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3. Simulation - RISCV MultiCycle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126133" y="1650986"/>
            <a:ext cx="9352168" cy="55344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7972362" y="1941800"/>
            <a:ext cx="2091772" cy="18017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8599666" y="1688623"/>
            <a:ext cx="1650238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</a:rPr>
              <a:t>JAL X0 - 8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133" y="2291803"/>
            <a:ext cx="9377612" cy="3966569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8612822" y="6069348"/>
            <a:ext cx="1865479" cy="13349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972362" y="2355051"/>
            <a:ext cx="1698956" cy="14019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8599666" y="2433560"/>
            <a:ext cx="1650238" cy="2786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</a:rPr>
              <a:t>JALR X23 </a:t>
            </a:r>
            <a:r>
              <a:rPr lang="ko-KR" altLang="en-US" sz="900" b="1" dirty="0">
                <a:solidFill>
                  <a:schemeClr val="bg1"/>
                </a:solidFill>
              </a:rPr>
              <a:t>← </a:t>
            </a:r>
            <a:r>
              <a:rPr lang="en-US" altLang="ko-KR" sz="900" b="1" dirty="0">
                <a:solidFill>
                  <a:schemeClr val="bg1"/>
                </a:solidFill>
              </a:rPr>
              <a:t>X2 +  4</a:t>
            </a:r>
          </a:p>
        </p:txBody>
      </p:sp>
    </p:spTree>
    <p:extLst>
      <p:ext uri="{BB962C8B-B14F-4D97-AF65-F5344CB8AC3E}">
        <p14:creationId xmlns:p14="http://schemas.microsoft.com/office/powerpoint/2010/main" val="1689293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609521" y="189434"/>
            <a:ext cx="10971373" cy="79875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3. Simulation - RISCV MultiCycle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210" y="3495573"/>
            <a:ext cx="8345380" cy="311465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2" y="1398827"/>
            <a:ext cx="11114677" cy="102527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43972" y="1531884"/>
            <a:ext cx="2129853" cy="72536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63721" y="1523273"/>
            <a:ext cx="1281602" cy="72536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8447350" y="1542309"/>
            <a:ext cx="1281602" cy="72536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12" y="2468300"/>
            <a:ext cx="11121744" cy="982180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8447350" y="3369280"/>
            <a:ext cx="2755503" cy="296390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214237" y="2571302"/>
            <a:ext cx="1811628" cy="72536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224433" y="2352145"/>
            <a:ext cx="1667457" cy="30008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2"/>
                </a:solidFill>
              </a:rPr>
              <a:t>L-Type’ Case : 4 Cycle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9879975" y="2587869"/>
            <a:ext cx="1281602" cy="72536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9665798" y="2353348"/>
            <a:ext cx="1667457" cy="30008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2"/>
                </a:solidFill>
              </a:rPr>
              <a:t>J-Type’ Case : 3 Cycle</a:t>
            </a:r>
          </a:p>
        </p:txBody>
      </p:sp>
    </p:spTree>
    <p:extLst>
      <p:ext uri="{BB962C8B-B14F-4D97-AF65-F5344CB8AC3E}">
        <p14:creationId xmlns:p14="http://schemas.microsoft.com/office/powerpoint/2010/main" val="1050119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609521" y="189434"/>
            <a:ext cx="10971373" cy="798753"/>
          </a:xfrm>
        </p:spPr>
        <p:txBody>
          <a:bodyPr/>
          <a:lstStyle/>
          <a:p>
            <a:pPr lvl="0">
              <a:defRPr/>
            </a:pPr>
            <a:r>
              <a:rPr lang="en-US" altLang="ko-KR" dirty="0"/>
              <a:t>3. Verification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APB BUS</a:t>
            </a:r>
          </a:p>
        </p:txBody>
      </p:sp>
      <p:sp>
        <p:nvSpPr>
          <p:cNvPr id="5" name="사각형: 둥근 모서리 3"/>
          <p:cNvSpPr/>
          <p:nvPr/>
        </p:nvSpPr>
        <p:spPr>
          <a:xfrm>
            <a:off x="2217265" y="1679634"/>
            <a:ext cx="1770661" cy="1445405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Transaction</a:t>
            </a:r>
          </a:p>
        </p:txBody>
      </p:sp>
      <p:sp>
        <p:nvSpPr>
          <p:cNvPr id="6" name="사각형: 둥근 모서리 4"/>
          <p:cNvSpPr/>
          <p:nvPr/>
        </p:nvSpPr>
        <p:spPr>
          <a:xfrm>
            <a:off x="964973" y="3762119"/>
            <a:ext cx="4202198" cy="1439489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/>
              <a:t>Interface</a:t>
            </a:r>
          </a:p>
        </p:txBody>
      </p:sp>
      <p:cxnSp>
        <p:nvCxnSpPr>
          <p:cNvPr id="7" name="직선 화살표 연결선 6"/>
          <p:cNvCxnSpPr>
            <a:endCxn id="6" idx="0"/>
          </p:cNvCxnSpPr>
          <p:nvPr/>
        </p:nvCxnSpPr>
        <p:spPr>
          <a:xfrm rot="5400000">
            <a:off x="2757390" y="3444313"/>
            <a:ext cx="628154" cy="7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5"/>
          <p:cNvSpPr/>
          <p:nvPr/>
        </p:nvSpPr>
        <p:spPr>
          <a:xfrm>
            <a:off x="964973" y="5539785"/>
            <a:ext cx="4202198" cy="960281"/>
          </a:xfrm>
          <a:prstGeom prst="roundRect">
            <a:avLst>
              <a:gd name="adj" fmla="val 16667"/>
            </a:avLst>
          </a:prstGeom>
          <a:solidFill>
            <a:srgbClr val="40404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dirty="0" err="1"/>
              <a:t>APB_Master</a:t>
            </a:r>
            <a:endParaRPr lang="en-US" altLang="ko-KR" sz="1400" dirty="0"/>
          </a:p>
        </p:txBody>
      </p:sp>
      <p:cxnSp>
        <p:nvCxnSpPr>
          <p:cNvPr id="9" name="직선 화살표 연결선 10"/>
          <p:cNvCxnSpPr/>
          <p:nvPr/>
        </p:nvCxnSpPr>
        <p:spPr>
          <a:xfrm rot="5400000">
            <a:off x="2904134" y="5377210"/>
            <a:ext cx="324759" cy="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3"/>
          <p:cNvSpPr txBox="1"/>
          <p:nvPr/>
        </p:nvSpPr>
        <p:spPr>
          <a:xfrm>
            <a:off x="5659848" y="2869136"/>
            <a:ext cx="564279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검증 방법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  <a:ea typeface="+mj-ea"/>
              </a:rPr>
              <a:t>    </a:t>
            </a:r>
            <a:r>
              <a:rPr lang="en-US" altLang="ko-KR" sz="1800" b="1" dirty="0">
                <a:latin typeface="+mj-ea"/>
                <a:ea typeface="+mj-ea"/>
              </a:rPr>
              <a:t>- Transaction</a:t>
            </a:r>
            <a:r>
              <a:rPr lang="ko-KR" altLang="en-US" sz="1800" b="1" dirty="0">
                <a:latin typeface="+mj-ea"/>
                <a:ea typeface="+mj-ea"/>
              </a:rPr>
              <a:t>을 통해 생성한 </a:t>
            </a:r>
            <a:r>
              <a:rPr lang="en-US" altLang="ko-KR" sz="1800" b="1" dirty="0">
                <a:latin typeface="+mj-ea"/>
                <a:ea typeface="+mj-ea"/>
              </a:rPr>
              <a:t>Random </a:t>
            </a:r>
            <a:r>
              <a:rPr lang="ko-KR" altLang="en-US" sz="1800" b="1" dirty="0">
                <a:latin typeface="+mj-ea"/>
                <a:ea typeface="+mj-ea"/>
              </a:rPr>
              <a:t>값을 </a:t>
            </a:r>
            <a:r>
              <a:rPr lang="en-US" altLang="ko-KR" sz="1800" b="1" dirty="0">
                <a:latin typeface="+mj-ea"/>
                <a:ea typeface="+mj-ea"/>
              </a:rPr>
              <a:t>Interface</a:t>
            </a:r>
            <a:r>
              <a:rPr lang="ko-KR" altLang="en-US" sz="1800" b="1" dirty="0">
                <a:latin typeface="+mj-ea"/>
                <a:ea typeface="+mj-ea"/>
              </a:rPr>
              <a:t>를 통해 </a:t>
            </a:r>
            <a:r>
              <a:rPr lang="en-US" altLang="ko-KR" sz="1800" b="1" dirty="0">
                <a:latin typeface="+mj-ea"/>
                <a:ea typeface="+mj-ea"/>
              </a:rPr>
              <a:t>Timing</a:t>
            </a:r>
            <a:r>
              <a:rPr lang="ko-KR" altLang="en-US" sz="1800" b="1" dirty="0">
                <a:latin typeface="+mj-ea"/>
                <a:ea typeface="+mj-ea"/>
              </a:rPr>
              <a:t>에 맞춰서 넣고 </a:t>
            </a:r>
            <a:r>
              <a:rPr lang="en-US" altLang="ko-KR" sz="1800" b="1" dirty="0">
                <a:latin typeface="+mj-ea"/>
                <a:ea typeface="+mj-ea"/>
              </a:rPr>
              <a:t>Send or Receive</a:t>
            </a:r>
            <a:r>
              <a:rPr lang="ko-KR" altLang="en-US" sz="1800" b="1" dirty="0">
                <a:latin typeface="+mj-ea"/>
                <a:ea typeface="+mj-ea"/>
              </a:rPr>
              <a:t>가 제대로 되고 모든 </a:t>
            </a:r>
            <a:r>
              <a:rPr lang="en-US" altLang="ko-KR" sz="1800" b="1" dirty="0">
                <a:latin typeface="+mj-ea"/>
                <a:ea typeface="+mj-ea"/>
              </a:rPr>
              <a:t>Address</a:t>
            </a:r>
            <a:r>
              <a:rPr lang="ko-KR" altLang="en-US" sz="1800" b="1" dirty="0">
                <a:latin typeface="+mj-ea"/>
                <a:ea typeface="+mj-ea"/>
              </a:rPr>
              <a:t>에 </a:t>
            </a:r>
            <a:r>
              <a:rPr lang="en-US" altLang="ko-KR" sz="1800" b="1" dirty="0">
                <a:latin typeface="+mj-ea"/>
                <a:ea typeface="+mj-ea"/>
              </a:rPr>
              <a:t>Send or Receive </a:t>
            </a:r>
            <a:r>
              <a:rPr lang="ko-KR" altLang="en-US" sz="1800" b="1" dirty="0">
                <a:latin typeface="+mj-ea"/>
                <a:ea typeface="+mj-ea"/>
              </a:rPr>
              <a:t>하면 </a:t>
            </a:r>
            <a:r>
              <a:rPr lang="en-US" altLang="ko-KR" sz="1800" b="1" dirty="0">
                <a:latin typeface="+mj-ea"/>
                <a:ea typeface="+mj-ea"/>
              </a:rPr>
              <a:t>SUCCESS</a:t>
            </a:r>
          </a:p>
        </p:txBody>
      </p:sp>
    </p:spTree>
    <p:extLst>
      <p:ext uri="{BB962C8B-B14F-4D97-AF65-F5344CB8AC3E}">
        <p14:creationId xmlns:p14="http://schemas.microsoft.com/office/powerpoint/2010/main" val="1059766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609521" y="189434"/>
            <a:ext cx="10971373" cy="79875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3. Verification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APB BUS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94" y="1804077"/>
            <a:ext cx="9195837" cy="434422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886" y="1432789"/>
            <a:ext cx="10441214" cy="4932554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687982" y="1675270"/>
            <a:ext cx="87530" cy="259368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003690" y="1675270"/>
            <a:ext cx="87530" cy="259368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1791" y="3622881"/>
            <a:ext cx="1909309" cy="274246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10284431" y="6092008"/>
            <a:ext cx="1667457" cy="48102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rgbClr val="FF0000"/>
                </a:solidFill>
              </a:rPr>
              <a:t>Repeat(60)</a:t>
            </a:r>
            <a:r>
              <a:rPr lang="ko-KR" altLang="en-US" sz="900" b="1" dirty="0">
                <a:solidFill>
                  <a:srgbClr val="FF0000"/>
                </a:solidFill>
              </a:rPr>
              <a:t>시 </a:t>
            </a:r>
            <a:r>
              <a:rPr lang="en-US" altLang="ko-KR" sz="900" b="1" dirty="0">
                <a:solidFill>
                  <a:srgbClr val="FF0000"/>
                </a:solidFill>
              </a:rPr>
              <a:t>Coverage 100%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4218042" y="4603646"/>
            <a:ext cx="1667457" cy="113107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 err="1">
                <a:solidFill>
                  <a:schemeClr val="accent2"/>
                </a:solidFill>
              </a:rPr>
              <a:t>Addr</a:t>
            </a:r>
            <a:r>
              <a:rPr lang="en-US" altLang="ko-KR" sz="900" b="1" dirty="0">
                <a:solidFill>
                  <a:schemeClr val="accent2"/>
                </a:solidFill>
              </a:rPr>
              <a:t> Random </a:t>
            </a:r>
            <a:r>
              <a:rPr lang="ko-KR" altLang="en-US" sz="900" b="1" dirty="0">
                <a:solidFill>
                  <a:schemeClr val="accent2"/>
                </a:solidFill>
              </a:rPr>
              <a:t>생성 → </a:t>
            </a:r>
            <a:r>
              <a:rPr lang="en-US" altLang="ko-KR" sz="900" b="1" dirty="0">
                <a:solidFill>
                  <a:schemeClr val="accent2"/>
                </a:solidFill>
              </a:rPr>
              <a:t>Send() </a:t>
            </a:r>
            <a:r>
              <a:rPr lang="ko-KR" altLang="en-US" sz="900" b="1" dirty="0">
                <a:solidFill>
                  <a:schemeClr val="accent2"/>
                </a:solidFill>
              </a:rPr>
              <a:t>실행 → </a:t>
            </a:r>
            <a:r>
              <a:rPr lang="en-US" altLang="ko-KR" sz="900" b="1" dirty="0">
                <a:solidFill>
                  <a:schemeClr val="accent2"/>
                </a:solidFill>
              </a:rPr>
              <a:t>Receive() </a:t>
            </a:r>
            <a:r>
              <a:rPr lang="ko-KR" altLang="en-US" sz="900" b="1" dirty="0">
                <a:solidFill>
                  <a:schemeClr val="accent2"/>
                </a:solidFill>
              </a:rPr>
              <a:t>실행 → </a:t>
            </a:r>
            <a:r>
              <a:rPr lang="en-US" altLang="ko-KR" sz="900" b="1" dirty="0" err="1">
                <a:solidFill>
                  <a:schemeClr val="accent2"/>
                </a:solidFill>
              </a:rPr>
              <a:t>Addr</a:t>
            </a:r>
            <a:r>
              <a:rPr lang="en-US" altLang="ko-KR" sz="900" b="1" dirty="0">
                <a:solidFill>
                  <a:schemeClr val="accent2"/>
                </a:solidFill>
              </a:rPr>
              <a:t> = 1000_000c</a:t>
            </a:r>
            <a:r>
              <a:rPr lang="ko-KR" altLang="en-US" sz="900" b="1" dirty="0">
                <a:solidFill>
                  <a:schemeClr val="accent2"/>
                </a:solidFill>
              </a:rPr>
              <a:t>이므로 </a:t>
            </a:r>
            <a:r>
              <a:rPr lang="en-US" altLang="ko-KR" sz="900" b="1" dirty="0">
                <a:solidFill>
                  <a:schemeClr val="accent2"/>
                </a:solidFill>
              </a:rPr>
              <a:t>Reg3</a:t>
            </a:r>
            <a:r>
              <a:rPr lang="ko-KR" altLang="en-US" sz="900" b="1" dirty="0">
                <a:solidFill>
                  <a:schemeClr val="accent2"/>
                </a:solidFill>
              </a:rPr>
              <a:t>에 저장 → </a:t>
            </a:r>
            <a:r>
              <a:rPr lang="en-US" altLang="ko-KR" sz="900" b="1" dirty="0">
                <a:solidFill>
                  <a:schemeClr val="accent2"/>
                </a:solidFill>
              </a:rPr>
              <a:t>PREADY0 OUT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4854799" y="4476653"/>
            <a:ext cx="319615" cy="12699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21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609521" y="189434"/>
            <a:ext cx="10971373" cy="79875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3. Verification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UART</a:t>
            </a:r>
          </a:p>
        </p:txBody>
      </p:sp>
      <p:sp>
        <p:nvSpPr>
          <p:cNvPr id="5" name="사각형: 둥근 모서리 3"/>
          <p:cNvSpPr/>
          <p:nvPr/>
        </p:nvSpPr>
        <p:spPr>
          <a:xfrm>
            <a:off x="998065" y="1661386"/>
            <a:ext cx="1770661" cy="1445405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Generator</a:t>
            </a:r>
          </a:p>
        </p:txBody>
      </p:sp>
      <p:sp>
        <p:nvSpPr>
          <p:cNvPr id="6" name="사각형: 둥근 모서리 4"/>
          <p:cNvSpPr/>
          <p:nvPr/>
        </p:nvSpPr>
        <p:spPr>
          <a:xfrm>
            <a:off x="954335" y="3743871"/>
            <a:ext cx="1788408" cy="1439489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Driver</a:t>
            </a:r>
          </a:p>
        </p:txBody>
      </p:sp>
      <p:sp>
        <p:nvSpPr>
          <p:cNvPr id="7" name="사각형: 둥근 모서리 5"/>
          <p:cNvSpPr/>
          <p:nvPr/>
        </p:nvSpPr>
        <p:spPr>
          <a:xfrm>
            <a:off x="3362434" y="3720205"/>
            <a:ext cx="1788409" cy="1463154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Monitor</a:t>
            </a:r>
          </a:p>
        </p:txBody>
      </p:sp>
      <p:cxnSp>
        <p:nvCxnSpPr>
          <p:cNvPr id="8" name="직선 화살표 연결선 7"/>
          <p:cNvCxnSpPr>
            <a:endCxn id="6" idx="0"/>
          </p:cNvCxnSpPr>
          <p:nvPr/>
        </p:nvCxnSpPr>
        <p:spPr>
          <a:xfrm rot="5400000">
            <a:off x="1538190" y="3426065"/>
            <a:ext cx="628154" cy="7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22"/>
          <p:cNvSpPr/>
          <p:nvPr/>
        </p:nvSpPr>
        <p:spPr>
          <a:xfrm>
            <a:off x="3383463" y="1672955"/>
            <a:ext cx="1764744" cy="1421740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Scoreboard</a:t>
            </a:r>
          </a:p>
        </p:txBody>
      </p:sp>
      <p:cxnSp>
        <p:nvCxnSpPr>
          <p:cNvPr id="10" name="직선 화살표 연결선 10"/>
          <p:cNvCxnSpPr/>
          <p:nvPr/>
        </p:nvCxnSpPr>
        <p:spPr>
          <a:xfrm rot="16200000" flipV="1">
            <a:off x="3882110" y="3395065"/>
            <a:ext cx="628154" cy="7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5"/>
          <p:cNvSpPr/>
          <p:nvPr/>
        </p:nvSpPr>
        <p:spPr>
          <a:xfrm>
            <a:off x="964973" y="5539785"/>
            <a:ext cx="4202198" cy="960281"/>
          </a:xfrm>
          <a:prstGeom prst="roundRect">
            <a:avLst>
              <a:gd name="adj" fmla="val 16667"/>
            </a:avLst>
          </a:prstGeom>
          <a:solidFill>
            <a:srgbClr val="40404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UART_Periph</a:t>
            </a:r>
          </a:p>
        </p:txBody>
      </p:sp>
      <p:cxnSp>
        <p:nvCxnSpPr>
          <p:cNvPr id="12" name="직선 화살표 연결선 10"/>
          <p:cNvCxnSpPr/>
          <p:nvPr/>
        </p:nvCxnSpPr>
        <p:spPr>
          <a:xfrm rot="5400000">
            <a:off x="1684934" y="5358962"/>
            <a:ext cx="324759" cy="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0"/>
          <p:cNvCxnSpPr/>
          <p:nvPr/>
        </p:nvCxnSpPr>
        <p:spPr>
          <a:xfrm rot="16200000" flipV="1">
            <a:off x="4084529" y="5356140"/>
            <a:ext cx="324759" cy="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3"/>
          <p:cNvSpPr txBox="1"/>
          <p:nvPr/>
        </p:nvSpPr>
        <p:spPr>
          <a:xfrm>
            <a:off x="5659848" y="2869136"/>
            <a:ext cx="5642794" cy="2196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▶ 검증 방법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sz="1800" b="1" dirty="0">
                <a:latin typeface="+mj-ea"/>
                <a:ea typeface="+mj-ea"/>
              </a:rPr>
              <a:t>    </a:t>
            </a:r>
            <a:r>
              <a:rPr lang="en-US" altLang="ko-KR" sz="1800" b="1" dirty="0">
                <a:latin typeface="+mj-ea"/>
                <a:ea typeface="+mj-ea"/>
              </a:rPr>
              <a:t>- UART</a:t>
            </a:r>
            <a:r>
              <a:rPr lang="ko-KR" altLang="en-US" sz="1800" b="1" dirty="0">
                <a:latin typeface="+mj-ea"/>
                <a:ea typeface="+mj-ea"/>
              </a:rPr>
              <a:t> 통신 프로토콜에 맞춰 한 </a:t>
            </a:r>
            <a:r>
              <a:rPr lang="ko-KR" altLang="en-US" sz="1800" b="1" dirty="0" err="1">
                <a:latin typeface="+mj-ea"/>
                <a:ea typeface="+mj-ea"/>
              </a:rPr>
              <a:t>비트씩</a:t>
            </a:r>
            <a:r>
              <a:rPr lang="ko-KR" altLang="en-US" sz="1800" b="1" dirty="0">
                <a:latin typeface="+mj-ea"/>
                <a:ea typeface="+mj-ea"/>
              </a:rPr>
              <a:t> </a:t>
            </a:r>
            <a:r>
              <a:rPr lang="en-US" altLang="ko-KR" sz="1800" b="1" dirty="0">
                <a:latin typeface="+mj-ea"/>
                <a:ea typeface="+mj-ea"/>
              </a:rPr>
              <a:t>8</a:t>
            </a:r>
            <a:r>
              <a:rPr lang="ko-KR" altLang="en-US" sz="1800" b="1" dirty="0">
                <a:latin typeface="+mj-ea"/>
                <a:ea typeface="+mj-ea"/>
              </a:rPr>
              <a:t>개를 보낸 </a:t>
            </a:r>
            <a:r>
              <a:rPr lang="en-US" altLang="ko-KR" sz="1800" b="1" dirty="0">
                <a:latin typeface="+mj-ea"/>
                <a:ea typeface="+mj-ea"/>
              </a:rPr>
              <a:t>Byte</a:t>
            </a:r>
            <a:r>
              <a:rPr lang="ko-KR" altLang="en-US" sz="1800" b="1" dirty="0">
                <a:latin typeface="+mj-ea"/>
                <a:ea typeface="+mj-ea"/>
              </a:rPr>
              <a:t> 값과 </a:t>
            </a:r>
            <a:r>
              <a:rPr lang="en-US" altLang="ko-KR" sz="1800" b="1" dirty="0">
                <a:latin typeface="+mj-ea"/>
                <a:ea typeface="+mj-ea"/>
              </a:rPr>
              <a:t>RX</a:t>
            </a:r>
            <a:r>
              <a:rPr lang="ko-KR" altLang="en-US" sz="1800" b="1" dirty="0">
                <a:latin typeface="+mj-ea"/>
                <a:ea typeface="+mj-ea"/>
              </a:rPr>
              <a:t> 값이 일치하고 반대로 </a:t>
            </a:r>
            <a:r>
              <a:rPr lang="en-US" altLang="ko-KR" sz="1800" b="1" dirty="0">
                <a:latin typeface="+mj-ea"/>
                <a:ea typeface="+mj-ea"/>
              </a:rPr>
              <a:t>Byte</a:t>
            </a:r>
            <a:r>
              <a:rPr lang="ko-KR" altLang="en-US" sz="1800" b="1" dirty="0">
                <a:latin typeface="+mj-ea"/>
                <a:ea typeface="+mj-ea"/>
              </a:rPr>
              <a:t> 단위로 쓴 값이 </a:t>
            </a:r>
            <a:r>
              <a:rPr lang="en-US" altLang="ko-KR" sz="1800" b="1" dirty="0">
                <a:latin typeface="+mj-ea"/>
                <a:ea typeface="+mj-ea"/>
              </a:rPr>
              <a:t>UART</a:t>
            </a:r>
            <a:r>
              <a:rPr lang="ko-KR" altLang="en-US" sz="1800" b="1" dirty="0">
                <a:latin typeface="+mj-ea"/>
                <a:ea typeface="+mj-ea"/>
              </a:rPr>
              <a:t> 통신 프로토콜에 맞춰 </a:t>
            </a:r>
            <a:r>
              <a:rPr lang="en-US" altLang="ko-KR" sz="1800" b="1" dirty="0">
                <a:latin typeface="+mj-ea"/>
                <a:ea typeface="+mj-ea"/>
              </a:rPr>
              <a:t>TX</a:t>
            </a:r>
            <a:r>
              <a:rPr lang="ko-KR" altLang="en-US" sz="1800" b="1" dirty="0">
                <a:latin typeface="+mj-ea"/>
                <a:ea typeface="+mj-ea"/>
              </a:rPr>
              <a:t>로 나온 값과 같다면 </a:t>
            </a:r>
            <a:r>
              <a:rPr lang="en-US" altLang="ko-KR" sz="1800" b="1" dirty="0">
                <a:latin typeface="+mj-ea"/>
                <a:ea typeface="+mj-ea"/>
              </a:rPr>
              <a:t>SUCCESS</a:t>
            </a:r>
          </a:p>
        </p:txBody>
      </p:sp>
    </p:spTree>
    <p:extLst>
      <p:ext uri="{BB962C8B-B14F-4D97-AF65-F5344CB8AC3E}">
        <p14:creationId xmlns:p14="http://schemas.microsoft.com/office/powerpoint/2010/main" val="240553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2"/>
          <p:cNvSpPr>
            <a:spLocks noGrp="1"/>
          </p:cNvSpPr>
          <p:nvPr>
            <p:ph type="title"/>
          </p:nvPr>
        </p:nvSpPr>
        <p:spPr>
          <a:xfrm>
            <a:off x="609521" y="189434"/>
            <a:ext cx="10971373" cy="79875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3. Verification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UART RX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30068" y="4014942"/>
            <a:ext cx="4731221" cy="2844646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88188" y="1316745"/>
            <a:ext cx="4787876" cy="2479569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914745" y="6062950"/>
            <a:ext cx="2107659" cy="607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9" name="직사각형 18"/>
          <p:cNvSpPr/>
          <p:nvPr/>
        </p:nvSpPr>
        <p:spPr>
          <a:xfrm>
            <a:off x="1077278" y="1351520"/>
            <a:ext cx="2107659" cy="7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811147" y="1858693"/>
            <a:ext cx="5193869" cy="4375760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5886343" y="1821420"/>
            <a:ext cx="2107659" cy="7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23" name="직사각형 22"/>
          <p:cNvSpPr/>
          <p:nvPr/>
        </p:nvSpPr>
        <p:spPr>
          <a:xfrm>
            <a:off x="5865179" y="5536170"/>
            <a:ext cx="4869909" cy="7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1" name="TextBox 3"/>
          <p:cNvSpPr txBox="1"/>
          <p:nvPr/>
        </p:nvSpPr>
        <p:spPr>
          <a:xfrm>
            <a:off x="1343526" y="2002074"/>
            <a:ext cx="37179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Gen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에서 만든 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Data 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생성해서  </a:t>
            </a:r>
            <a:r>
              <a:rPr lang="en-US" altLang="ko-KR" b="1" dirty="0" err="1">
                <a:solidFill>
                  <a:srgbClr val="FF0000"/>
                </a:solidFill>
                <a:latin typeface="+mj-ea"/>
                <a:ea typeface="+mj-ea"/>
              </a:rPr>
              <a:t>Drv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에서 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Data Read &amp; Send</a:t>
            </a:r>
          </a:p>
        </p:txBody>
      </p:sp>
      <p:sp>
        <p:nvSpPr>
          <p:cNvPr id="12" name="TextBox 3"/>
          <p:cNvSpPr txBox="1"/>
          <p:nvPr/>
        </p:nvSpPr>
        <p:spPr>
          <a:xfrm>
            <a:off x="7994002" y="4156494"/>
            <a:ext cx="40160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Monitor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에선 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Ready 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신호 기다렸다가 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Data 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받고 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Ref Register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에  저장해서 비교</a:t>
            </a:r>
            <a:endParaRPr lang="en-US" altLang="ko-KR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420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2"/>
          <p:cNvSpPr>
            <a:spLocks noGrp="1"/>
          </p:cNvSpPr>
          <p:nvPr>
            <p:ph type="title"/>
          </p:nvPr>
        </p:nvSpPr>
        <p:spPr>
          <a:xfrm>
            <a:off x="609521" y="189434"/>
            <a:ext cx="10971373" cy="79875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3. Verification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UART TX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9314" y="3602222"/>
            <a:ext cx="4599308" cy="325736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935911" y="5724284"/>
            <a:ext cx="2107659" cy="607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31693" y="1560479"/>
            <a:ext cx="4526843" cy="155285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97361" y="1520854"/>
            <a:ext cx="3324743" cy="1436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7" name="TextBox 3"/>
          <p:cNvSpPr txBox="1"/>
          <p:nvPr/>
        </p:nvSpPr>
        <p:spPr>
          <a:xfrm>
            <a:off x="1217165" y="2863558"/>
            <a:ext cx="37179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Gen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에서 만든 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Data, Write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 생성해서  </a:t>
            </a:r>
            <a:r>
              <a:rPr lang="en-US" altLang="ko-KR" b="1" dirty="0" err="1">
                <a:solidFill>
                  <a:srgbClr val="FF0000"/>
                </a:solidFill>
                <a:latin typeface="+mj-ea"/>
                <a:ea typeface="+mj-ea"/>
              </a:rPr>
              <a:t>Drv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에서 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Data In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94662" y="1902659"/>
            <a:ext cx="6129247" cy="4554761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812260" y="1842587"/>
            <a:ext cx="1917159" cy="5895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0" name="직사각형 9"/>
          <p:cNvSpPr/>
          <p:nvPr/>
        </p:nvSpPr>
        <p:spPr>
          <a:xfrm>
            <a:off x="6373178" y="5642003"/>
            <a:ext cx="4869909" cy="7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1" name="TextBox 3"/>
          <p:cNvSpPr txBox="1"/>
          <p:nvPr/>
        </p:nvSpPr>
        <p:spPr>
          <a:xfrm>
            <a:off x="8066834" y="4180039"/>
            <a:ext cx="40160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Monitor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에선 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1.041ms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마다 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Bit 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수신 후 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Scoreboard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에선 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Ready 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신호 후 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Data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를 가져와 비교</a:t>
            </a:r>
            <a:endParaRPr lang="en-US" altLang="ko-KR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89718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C Machine Code Test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41" y="2211797"/>
            <a:ext cx="5149860" cy="3578306"/>
          </a:xfrm>
          <a:prstGeom prst="rect">
            <a:avLst/>
          </a:prstGeom>
        </p:spPr>
      </p:pic>
      <p:pic>
        <p:nvPicPr>
          <p:cNvPr id="5" name="251027_RISC-V CPU 설계 및 AMBA APB Peripheral 설계_조현우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96009" y="1523815"/>
            <a:ext cx="4078841" cy="488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254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5. Conclusion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26" y="2145017"/>
            <a:ext cx="5835138" cy="2655994"/>
          </a:xfrm>
          <a:prstGeom prst="rect">
            <a:avLst/>
          </a:prstGeom>
        </p:spPr>
      </p:pic>
      <p:sp>
        <p:nvSpPr>
          <p:cNvPr id="36" name="TextBox 3"/>
          <p:cNvSpPr txBox="1"/>
          <p:nvPr/>
        </p:nvSpPr>
        <p:spPr>
          <a:xfrm>
            <a:off x="1004781" y="5450009"/>
            <a:ext cx="42586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latin typeface="+mj-ea"/>
                <a:ea typeface="+mj-ea"/>
              </a:rPr>
              <a:t>AHB, AXI </a:t>
            </a:r>
            <a:r>
              <a:rPr lang="ko-KR" altLang="en-US" b="1" dirty="0">
                <a:latin typeface="+mj-ea"/>
                <a:ea typeface="+mj-ea"/>
              </a:rPr>
              <a:t>등 고속 버스로 확장</a:t>
            </a:r>
            <a:endParaRPr lang="en-US" altLang="ko-KR" b="1" dirty="0"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동작을 위한 </a:t>
            </a:r>
            <a:r>
              <a:rPr lang="en-US" altLang="ko-KR" b="1" dirty="0">
                <a:latin typeface="+mj-ea"/>
                <a:ea typeface="+mj-ea"/>
              </a:rPr>
              <a:t>SOC Design </a:t>
            </a:r>
            <a:r>
              <a:rPr lang="ko-KR" altLang="en-US" b="1" dirty="0">
                <a:latin typeface="+mj-ea"/>
                <a:ea typeface="+mj-ea"/>
              </a:rPr>
              <a:t>향상</a:t>
            </a:r>
            <a:endParaRPr lang="en-US" altLang="ko-KR" b="1" dirty="0">
              <a:latin typeface="+mj-ea"/>
              <a:ea typeface="+mj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764" y="1619892"/>
            <a:ext cx="5141771" cy="3735880"/>
          </a:xfrm>
          <a:prstGeom prst="rect">
            <a:avLst/>
          </a:prstGeom>
        </p:spPr>
      </p:pic>
      <p:sp>
        <p:nvSpPr>
          <p:cNvPr id="40" name="TextBox 3"/>
          <p:cNvSpPr txBox="1"/>
          <p:nvPr/>
        </p:nvSpPr>
        <p:spPr>
          <a:xfrm>
            <a:off x="6395948" y="5479645"/>
            <a:ext cx="4659402" cy="95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 err="1">
                <a:latin typeface="+mj-ea"/>
                <a:ea typeface="+mj-ea"/>
              </a:rPr>
              <a:t>Systemverilog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Framework </a:t>
            </a:r>
            <a:r>
              <a:rPr lang="ko-KR" altLang="en-US" b="1" dirty="0">
                <a:latin typeface="+mj-ea"/>
                <a:ea typeface="+mj-ea"/>
              </a:rPr>
              <a:t>이해</a:t>
            </a:r>
            <a:endParaRPr lang="en-US" altLang="ko-KR" b="1" dirty="0"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b="1" dirty="0">
                <a:latin typeface="+mj-ea"/>
                <a:ea typeface="+mj-ea"/>
              </a:rPr>
              <a:t>및 </a:t>
            </a:r>
            <a:r>
              <a:rPr lang="en-US" altLang="ko-KR" b="1" dirty="0">
                <a:latin typeface="+mj-ea"/>
                <a:ea typeface="+mj-ea"/>
              </a:rPr>
              <a:t>Verification </a:t>
            </a:r>
            <a:r>
              <a:rPr lang="ko-KR" altLang="en-US" b="1" dirty="0">
                <a:latin typeface="+mj-ea"/>
                <a:ea typeface="+mj-ea"/>
              </a:rPr>
              <a:t>능력 향상</a:t>
            </a:r>
            <a:endParaRPr lang="en-US" altLang="ko-KR" b="1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912</Words>
  <Application>Microsoft Office PowerPoint</Application>
  <PresentationFormat>사용자 지정</PresentationFormat>
  <Paragraphs>229</Paragraphs>
  <Slides>25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굴림체</vt:lpstr>
      <vt:lpstr>나눔고딕</vt:lpstr>
      <vt:lpstr>맑은 고딕</vt:lpstr>
      <vt:lpstr>Arial</vt:lpstr>
      <vt:lpstr>Calibri</vt:lpstr>
      <vt:lpstr>Calibri Light</vt:lpstr>
      <vt:lpstr>Noto Sans</vt:lpstr>
      <vt:lpstr>Office 테마</vt:lpstr>
      <vt:lpstr>PowerPoint 프레젠테이션</vt:lpstr>
      <vt:lpstr>Contents</vt:lpstr>
      <vt:lpstr>1. Project Introduce</vt:lpstr>
      <vt:lpstr>1. Project Introduce</vt:lpstr>
      <vt:lpstr>2. Block Diagram</vt:lpstr>
      <vt:lpstr>2. Block Diagram</vt:lpstr>
      <vt:lpstr>2. Block Diagram</vt:lpstr>
      <vt:lpstr>2. Block Diagram</vt:lpstr>
      <vt:lpstr>2. Block Diagram</vt:lpstr>
      <vt:lpstr>2. Block Diagram</vt:lpstr>
      <vt:lpstr>2. Block Diagram</vt:lpstr>
      <vt:lpstr>2. Block Diagram</vt:lpstr>
      <vt:lpstr>2. Block Diagram</vt:lpstr>
      <vt:lpstr>2. Block Diagram</vt:lpstr>
      <vt:lpstr>3. Simulation - RISCV MultiCycle</vt:lpstr>
      <vt:lpstr>3. Simulation - RISCV MultiCycle</vt:lpstr>
      <vt:lpstr>3. Simulation - RISCV MultiCycle</vt:lpstr>
      <vt:lpstr>3. Simulation - RISCV MultiCycle</vt:lpstr>
      <vt:lpstr>3. Verification – APB BUS</vt:lpstr>
      <vt:lpstr>3. Verification - APB BUS</vt:lpstr>
      <vt:lpstr>3. Verification - UART</vt:lpstr>
      <vt:lpstr>3. Verification - UART RX</vt:lpstr>
      <vt:lpstr>3. Verification - UART TX</vt:lpstr>
      <vt:lpstr>4. C Machine Code Test</vt:lpstr>
      <vt:lpstr>5. Conclusion</vt:lpstr>
    </vt:vector>
  </TitlesOfParts>
  <Manager>Slide Members</Manager>
  <Company>YESFORM Co.,Ltd.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Members</dc:title>
  <dc:subject>Powerpoint Templates , Diagram, Chart, Google slides, Keynote</dc:subject>
  <dc:creator>Slide Members by HS.SEO</dc:creator>
  <cp:keywords>SlideMembers, ppt, PPT Templates, Presentation, Diagram, Chart, Yesform, Google slides, Keynote, Free Slides</cp:keywords>
  <dc:description>The copyright of this document is at Slide Members. Unauthorized copying may result in legal sanctions.</dc:description>
  <cp:lastModifiedBy>edu11</cp:lastModifiedBy>
  <cp:revision>669</cp:revision>
  <dcterms:created xsi:type="dcterms:W3CDTF">2010-02-01T08:03:16Z</dcterms:created>
  <dcterms:modified xsi:type="dcterms:W3CDTF">2026-02-12T00:26:27Z</dcterms:modified>
  <cp:category>www.slidemembers.com</cp:category>
  <cp:version>1000.0000.01</cp:version>
</cp:coreProperties>
</file>